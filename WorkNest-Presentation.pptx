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a77378bc-4567-8c64-6200-f063d15c43a6}">
          <p14:sldIdLst>
            <p14:sldId id="256"/>
          </p14:sldIdLst>
        </p14:section>
        <p14:section name="Product" id="{bcce64dd-fbee-8c3b-a060-7df2832d0170}">
          <p14:sldIdLst>
            <p14:sldId id="257"/>
            <p14:sldId id="258"/>
            <p14:sldId id="259"/>
          </p14:sldIdLst>
        </p14:section>
        <p14:section name="How it works" id="{9c55ca10-68c5-83c5-8454-7dc5c6385cf0}">
          <p14:sldIdLst>
            <p14:sldId id="260"/>
            <p14:sldId id="261"/>
            <p14:sldId id="262"/>
          </p14:sldIdLst>
        </p14:section>
        <p14:section name="Demo" id="{455f9490-435e-a330-da6f-758c2ab32799}">
          <p14:sldIdLst>
            <p14:sldId id="263"/>
          </p14:sldIdLst>
        </p14:section>
        <p14:section name="Close" id="{2ccea35a-5661-7c9a-2007-52bef5071f8d}">
          <p14:sldIdLst>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WorkNest is a job board and recruitment platform. Candidates find and apply for jobs, and a recruitment team manages roles, clients and applicants from one admin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groups have the same problem from opposite sides. WorkNest brings both into one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Roles are stored on each user: candidate, recruiter or admin. Visitors need no account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Candidate side on the left, the recruitment team's dashboard on the right. Every admin page is protected so only staff can open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request goes from the React app to the Express API, which checks the login token and the role, then reads or writes MongoDB through Mongoose. The API also calls three outside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language, TypeScript, on both sides. Types catch mismatches between what the API sends and what the UI expects.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frontend hides admin pages, but that is only for convenience. The real protection is on the server, because anyone can call the API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presenting: run npm run seed and npm run seed-candidates so every page has data, and keep both servers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next steps, then open for questions. The Technical Q&amp;A PDF covers the likely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280160"/>
          </a:xfrm>
          <a:prstGeom prst="rect">
            <a:avLst/>
          </a:prstGeom>
          <a:noFill/>
          <a:ln/>
        </p:spPr>
        <p:txBody>
          <a:bodyPr wrap="square" rtlCol="0"/>
          <a:lstStyle>
            <a:lvl1pPr algn="l" indent="0" marL="0">
              <a:buNone/>
              <a:defRPr lang="en-US" sz="6000" b="1" dirty="0">
                <a:solidFill>
                  <a:schemeClr val="bg1"/>
                </a:solidFill>
              </a:defRPr>
            </a:lvl1pPr>
          </a:lstStyle>
          <a:p>
            <a:pPr algn="l" indent="0" marL="0">
              <a:buNone/>
            </a:pPr>
            <a:endParaRPr lang="en-US" sz="6000" dirty="0"/>
          </a:p>
        </p:txBody>
      </p:sp>
      <p:sp>
        <p:nvSpPr>
          <p:cNvPr id="3" name="Text 0"/>
          <p:cNvSpPr/>
          <p:nvPr>
            <p:ph idx="101" type="body" hasCustomPrompt="1"/>
          </p:nvPr>
        </p:nvSpPr>
        <p:spPr>
          <a:xfrm>
            <a:off x="731520" y="3566160"/>
            <a:ext cx="10698480" cy="1828800"/>
          </a:xfrm>
          <a:prstGeom prst="rect">
            <a:avLst/>
          </a:prstGeom>
          <a:noFill/>
          <a:ln/>
        </p:spPr>
        <p:txBody>
          <a:bodyPr wrap="square" rtlCol="0"/>
          <a:lstStyle>
            <a:lvl1pPr algn="l" indent="0" marL="0">
              <a:buNone/>
              <a:defRPr lang="en-US" sz="2400" dirty="0">
                <a:solidFill>
                  <a:schemeClr val="bg2"/>
                </a:solidFill>
              </a:defRPr>
            </a:lvl1pPr>
          </a:lstStyle>
          <a:p>
            <a:pPr algn="l" indent="0" marL="0">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lvl1pPr indent="0" marL="0">
              <a:buNone/>
              <a:defRPr lang="en-US" sz="3600" b="1" dirty="0">
                <a:solidFill>
                  <a:schemeClr val="tx1"/>
                </a:solidFill>
              </a:defRPr>
            </a:lvl1pPr>
          </a:lstStyle>
          <a:p>
            <a:pPr indent="0" marL="0">
              <a:buNone/>
            </a:pPr>
            <a:endParaRPr lang="en-US" sz="3600" dirty="0"/>
          </a:p>
        </p:txBody>
      </p:sp>
      <p:sp>
        <p:nvSpPr>
          <p:cNvPr id="3" name="Text 0"/>
          <p:cNvSpPr/>
          <p:nvPr/>
        </p:nvSpPr>
        <p:spPr>
          <a:xfrm>
            <a:off x="548640" y="6400800"/>
            <a:ext cx="2743200" cy="274320"/>
          </a:xfrm>
          <a:prstGeom prst="rect">
            <a:avLst/>
          </a:prstGeom>
          <a:noFill/>
          <a:ln/>
        </p:spPr>
        <p:txBody>
          <a:bodyPr wrap="square" lIns="0" tIns="0" rIns="0" bIns="0" rtlCol="0" anchor="ctr"/>
          <a:lstStyle/>
          <a:p>
            <a:pPr indent="0" marL="0">
              <a:buNone/>
            </a:pPr>
            <a:r>
              <a:rPr lang="en-US" sz="1000" dirty="0">
                <a:solidFill>
                  <a:schemeClr val="accent6"/>
                </a:solidFill>
              </a:rPr>
              <a:t>WorkNest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3.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3.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280160"/>
          </a:xfrm>
          <a:prstGeom prst="rect">
            <a:avLst/>
          </a:prstGeom>
          <a:noFill/>
          <a:ln/>
        </p:spPr>
        <p:txBody>
          <a:bodyPr wrap="square" lIns="0" tIns="0" rIns="0" bIns="0" rtlCol="0" anchor="b"/>
          <a:lstStyle/>
          <a:p>
            <a:pPr algn="l" indent="0" marL="0">
              <a:buNone/>
            </a:pPr>
            <a:r>
              <a:rPr lang="en-US" sz="6000" b="1" dirty="0">
                <a:solidFill>
                  <a:schemeClr val="bg1"/>
                </a:solidFill>
              </a:rPr>
              <a:t>WorkNest</a:t>
            </a:r>
            <a:endParaRPr lang="en-US" sz="6000" dirty="0"/>
          </a:p>
        </p:txBody>
      </p:sp>
      <p:sp>
        <p:nvSpPr>
          <p:cNvPr id="3" name="Text 0"/>
          <p:cNvSpPr/>
          <p:nvPr>
            <p:ph idx="101" type="body" hasCustomPrompt="1"/>
          </p:nvPr>
        </p:nvSpPr>
        <p:spPr>
          <a:xfrm>
            <a:off x="731520" y="3566160"/>
            <a:ext cx="10698480" cy="1828800"/>
          </a:xfrm>
          <a:prstGeom prst="rect">
            <a:avLst/>
          </a:prstGeom>
          <a:noFill/>
          <a:ln/>
        </p:spPr>
        <p:txBody>
          <a:bodyPr wrap="square" lIns="0" tIns="0" rIns="0" bIns="0" rtlCol="0" anchor="t"/>
          <a:lstStyle/>
          <a:p>
            <a:pPr algn="l" indent="0" marL="0">
              <a:buNone/>
            </a:pPr>
            <a:r>
              <a:rPr lang="en-US" sz="2400" dirty="0">
                <a:solidFill>
                  <a:schemeClr val="bg2"/>
                </a:solidFill>
              </a:rPr>
              <a:t>Find work. Hire faster.</a:t>
            </a:r>
            <a:endParaRPr lang="en-US" sz="2400" dirty="0"/>
          </a:p>
        </p:txBody>
      </p:sp>
      <p:sp>
        <p:nvSpPr>
          <p:cNvPr id="4" name="tagline"/>
          <p:cNvSpPr txBox="1"/>
          <p:nvPr/>
        </p:nvSpPr>
        <p:spPr>
          <a:xfrm>
            <a:off x="731520" y="5120640"/>
            <a:ext cx="10698480" cy="457200"/>
          </a:xfrm>
          <a:prstGeom prst="rect">
            <a:avLst/>
          </a:prstGeom>
          <a:noFill/>
          <a:ln/>
        </p:spPr>
        <p:txBody>
          <a:bodyPr wrap="square" lIns="0" tIns="0" rIns="0" bIns="0" rtlCol="0" anchor="ctr"/>
          <a:lstStyle/>
          <a:p>
            <a:pPr indent="0" marL="0">
              <a:buNone/>
            </a:pPr>
            <a:r>
              <a:rPr lang="en-US" sz="1600" dirty="0">
                <a:solidFill>
                  <a:schemeClr val="accent6"/>
                </a:solidFill>
              </a:rPr>
              <a:t>A full-stack job board and recruitment platform</a:t>
            </a:r>
            <a:endParaRPr lang="en-US" sz="1600" dirty="0"/>
          </a:p>
        </p:txBody>
      </p:sp>
      <p:sp>
        <p:nvSpPr>
          <p:cNvPr id="5" name="logo circle"/>
          <p:cNvSpPr/>
          <p:nvPr/>
        </p:nvSpPr>
        <p:spPr>
          <a:xfrm>
            <a:off x="10424160" y="640080"/>
            <a:ext cx="1005840" cy="1005840"/>
          </a:xfrm>
          <a:prstGeom prst="ellipse">
            <a:avLst/>
          </a:prstGeom>
          <a:solidFill>
            <a:schemeClr val="accent1"/>
          </a:solidFill>
          <a:ln/>
        </p:spPr>
      </p:sp>
      <p:pic>
        <p:nvPicPr>
          <p:cNvPr id="6" name="logo icon" descr="preencoded.png">    </p:cNvPr>
          <p:cNvPicPr>
            <a:picLocks noChangeAspect="1"/>
          </p:cNvPicPr>
          <p:nvPr/>
        </p:nvPicPr>
        <p:blipFill>
          <a:blip r:embed="rId1"/>
          <a:stretch>
            <a:fillRect/>
          </a:stretch>
        </p:blipFill>
        <p:spPr>
          <a:xfrm>
            <a:off x="10675620" y="891540"/>
            <a:ext cx="502920" cy="5029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nchor="ctr"/>
          <a:lstStyle/>
          <a:p>
            <a:pPr indent="0" marL="0">
              <a:buNone/>
            </a:pPr>
            <a:r>
              <a:rPr lang="en-US" sz="3600" b="1" dirty="0">
                <a:solidFill>
                  <a:schemeClr val="tx1"/>
                </a:solidFill>
              </a:rPr>
              <a:t>Hiring is scattered for both sides</a:t>
            </a:r>
            <a:endParaRPr lang="en-US" sz="3600" dirty="0"/>
          </a:p>
        </p:txBody>
      </p:sp>
      <p:sp>
        <p:nvSpPr>
          <p:cNvPr id="3" name="Job seekers card"/>
          <p:cNvSpPr/>
          <p:nvPr/>
        </p:nvSpPr>
        <p:spPr>
          <a:xfrm>
            <a:off x="548640" y="1463040"/>
            <a:ext cx="5376672" cy="2468880"/>
          </a:xfrm>
          <a:prstGeom prst="roundRect">
            <a:avLst>
              <a:gd name="adj" fmla="val 4444"/>
            </a:avLst>
          </a:prstGeom>
          <a:solidFill>
            <a:schemeClr val="bg2"/>
          </a:solidFill>
          <a:ln/>
        </p:spPr>
      </p:sp>
      <p:sp>
        <p:nvSpPr>
          <p:cNvPr id="4" name="Job seekers circle"/>
          <p:cNvSpPr/>
          <p:nvPr/>
        </p:nvSpPr>
        <p:spPr>
          <a:xfrm>
            <a:off x="914400" y="1783080"/>
            <a:ext cx="731520" cy="731520"/>
          </a:xfrm>
          <a:prstGeom prst="ellipse">
            <a:avLst/>
          </a:prstGeom>
          <a:solidFill>
            <a:schemeClr val="accent1"/>
          </a:solidFill>
          <a:ln/>
        </p:spPr>
      </p:sp>
      <p:pic>
        <p:nvPicPr>
          <p:cNvPr id="5" name="Job seekers icon" descr="preencoded.png">    </p:cNvPr>
          <p:cNvPicPr>
            <a:picLocks noChangeAspect="1"/>
          </p:cNvPicPr>
          <p:nvPr/>
        </p:nvPicPr>
        <p:blipFill>
          <a:blip r:embed="rId1"/>
          <a:stretch>
            <a:fillRect/>
          </a:stretch>
        </p:blipFill>
        <p:spPr>
          <a:xfrm>
            <a:off x="1097280" y="1965960"/>
            <a:ext cx="365760" cy="365760"/>
          </a:xfrm>
          <a:prstGeom prst="rect">
            <a:avLst/>
          </a:prstGeom>
        </p:spPr>
      </p:pic>
      <p:sp>
        <p:nvSpPr>
          <p:cNvPr id="6" name="Job seekers heading"/>
          <p:cNvSpPr txBox="1"/>
          <p:nvPr/>
        </p:nvSpPr>
        <p:spPr>
          <a:xfrm>
            <a:off x="1828800" y="1828800"/>
            <a:ext cx="3840480" cy="640080"/>
          </a:xfrm>
          <a:prstGeom prst="rect">
            <a:avLst/>
          </a:prstGeom>
          <a:noFill/>
          <a:ln/>
        </p:spPr>
        <p:txBody>
          <a:bodyPr wrap="square" lIns="0" tIns="0" rIns="0" bIns="0" rtlCol="0" anchor="ctr"/>
          <a:lstStyle/>
          <a:p>
            <a:pPr indent="0" marL="0">
              <a:buNone/>
            </a:pPr>
            <a:r>
              <a:rPr lang="en-US" sz="2200" b="1" dirty="0">
                <a:solidFill>
                  <a:schemeClr val="tx1"/>
                </a:solidFill>
              </a:rPr>
              <a:t>Job seekers</a:t>
            </a:r>
            <a:endParaRPr lang="en-US" sz="2200" dirty="0"/>
          </a:p>
        </p:txBody>
      </p:sp>
      <p:sp>
        <p:nvSpPr>
          <p:cNvPr id="7" name="Job seekers points"/>
          <p:cNvSpPr txBox="1"/>
          <p:nvPr/>
        </p:nvSpPr>
        <p:spPr>
          <a:xfrm>
            <a:off x="914400" y="2743200"/>
            <a:ext cx="4663440" cy="12801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2"/>
                </a:solidFill>
              </a:rPr>
              <a:t>Listings spread across many sites</a:t>
            </a:r>
            <a:endParaRPr lang="en-US" sz="1600" dirty="0"/>
          </a:p>
          <a:p>
            <a:pPr marL="342900" indent="-342900">
              <a:spcAft>
                <a:spcPts val="800"/>
              </a:spcAft>
              <a:buSzPct val="100000"/>
              <a:buChar char="•"/>
            </a:pPr>
            <a:r>
              <a:rPr lang="en-US" sz="1600" dirty="0">
                <a:solidFill>
                  <a:schemeClr val="tx2"/>
                </a:solidFill>
              </a:rPr>
              <a:t>No way to see where an application stands</a:t>
            </a:r>
            <a:endParaRPr lang="en-US" sz="1600" dirty="0"/>
          </a:p>
        </p:txBody>
      </p:sp>
      <p:sp>
        <p:nvSpPr>
          <p:cNvPr id="8" name="Recruiters card"/>
          <p:cNvSpPr/>
          <p:nvPr/>
        </p:nvSpPr>
        <p:spPr>
          <a:xfrm>
            <a:off x="6263640" y="1463040"/>
            <a:ext cx="5376672" cy="2468880"/>
          </a:xfrm>
          <a:prstGeom prst="roundRect">
            <a:avLst>
              <a:gd name="adj" fmla="val 4444"/>
            </a:avLst>
          </a:prstGeom>
          <a:solidFill>
            <a:schemeClr val="bg2"/>
          </a:solidFill>
          <a:ln/>
        </p:spPr>
      </p:sp>
      <p:sp>
        <p:nvSpPr>
          <p:cNvPr id="9" name="Recruiters circle"/>
          <p:cNvSpPr/>
          <p:nvPr/>
        </p:nvSpPr>
        <p:spPr>
          <a:xfrm>
            <a:off x="6629400" y="1783080"/>
            <a:ext cx="731520" cy="731520"/>
          </a:xfrm>
          <a:prstGeom prst="ellipse">
            <a:avLst/>
          </a:prstGeom>
          <a:solidFill>
            <a:schemeClr val="accent1"/>
          </a:solidFill>
          <a:ln/>
        </p:spPr>
      </p:sp>
      <p:pic>
        <p:nvPicPr>
          <p:cNvPr id="10" name="Recruiters icon" descr="preencoded.png">    </p:cNvPr>
          <p:cNvPicPr>
            <a:picLocks noChangeAspect="1"/>
          </p:cNvPicPr>
          <p:nvPr/>
        </p:nvPicPr>
        <p:blipFill>
          <a:blip r:embed="rId2"/>
          <a:stretch>
            <a:fillRect/>
          </a:stretch>
        </p:blipFill>
        <p:spPr>
          <a:xfrm>
            <a:off x="6812280" y="1965960"/>
            <a:ext cx="365760" cy="365760"/>
          </a:xfrm>
          <a:prstGeom prst="rect">
            <a:avLst/>
          </a:prstGeom>
        </p:spPr>
      </p:pic>
      <p:sp>
        <p:nvSpPr>
          <p:cNvPr id="11" name="Recruiters heading"/>
          <p:cNvSpPr txBox="1"/>
          <p:nvPr/>
        </p:nvSpPr>
        <p:spPr>
          <a:xfrm>
            <a:off x="7543800" y="1828800"/>
            <a:ext cx="3840480" cy="640080"/>
          </a:xfrm>
          <a:prstGeom prst="rect">
            <a:avLst/>
          </a:prstGeom>
          <a:noFill/>
          <a:ln/>
        </p:spPr>
        <p:txBody>
          <a:bodyPr wrap="square" lIns="0" tIns="0" rIns="0" bIns="0" rtlCol="0" anchor="ctr"/>
          <a:lstStyle/>
          <a:p>
            <a:pPr indent="0" marL="0">
              <a:buNone/>
            </a:pPr>
            <a:r>
              <a:rPr lang="en-US" sz="2200" b="1" dirty="0">
                <a:solidFill>
                  <a:schemeClr val="tx1"/>
                </a:solidFill>
              </a:rPr>
              <a:t>Recruiters</a:t>
            </a:r>
            <a:endParaRPr lang="en-US" sz="2200" dirty="0"/>
          </a:p>
        </p:txBody>
      </p:sp>
      <p:sp>
        <p:nvSpPr>
          <p:cNvPr id="12" name="Recruiters points"/>
          <p:cNvSpPr txBox="1"/>
          <p:nvPr/>
        </p:nvSpPr>
        <p:spPr>
          <a:xfrm>
            <a:off x="6629400" y="2743200"/>
            <a:ext cx="4663440" cy="12801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2"/>
                </a:solidFill>
              </a:rPr>
              <a:t>Applicants tracked in spreadsheets and email</a:t>
            </a:r>
            <a:endParaRPr lang="en-US" sz="1600" dirty="0"/>
          </a:p>
          <a:p>
            <a:pPr marL="342900" indent="-342900">
              <a:spcAft>
                <a:spcPts val="800"/>
              </a:spcAft>
              <a:buSzPct val="100000"/>
              <a:buChar char="•"/>
            </a:pPr>
            <a:r>
              <a:rPr lang="en-US" sz="1600" dirty="0">
                <a:solidFill>
                  <a:schemeClr val="tx2"/>
                </a:solidFill>
              </a:rPr>
              <a:t>No single view of open roles and placements</a:t>
            </a:r>
            <a:endParaRPr lang="en-US" sz="1600" dirty="0"/>
          </a:p>
        </p:txBody>
      </p:sp>
      <p:sp>
        <p:nvSpPr>
          <p:cNvPr id="13" name="solution band"/>
          <p:cNvSpPr/>
          <p:nvPr/>
        </p:nvSpPr>
        <p:spPr>
          <a:xfrm>
            <a:off x="548640" y="4297680"/>
            <a:ext cx="11091672" cy="1188720"/>
          </a:xfrm>
          <a:prstGeom prst="roundRect">
            <a:avLst>
              <a:gd name="adj" fmla="val 9231"/>
            </a:avLst>
          </a:prstGeom>
          <a:solidFill>
            <a:schemeClr val="accent1"/>
          </a:solidFill>
          <a:ln/>
        </p:spPr>
      </p:sp>
      <p:sp>
        <p:nvSpPr>
          <p:cNvPr id="14" name="solution text"/>
          <p:cNvSpPr txBox="1"/>
          <p:nvPr/>
        </p:nvSpPr>
        <p:spPr>
          <a:xfrm>
            <a:off x="914400" y="4297680"/>
            <a:ext cx="10424160" cy="1188720"/>
          </a:xfrm>
          <a:prstGeom prst="rect">
            <a:avLst/>
          </a:prstGeom>
          <a:noFill/>
          <a:ln/>
        </p:spPr>
        <p:txBody>
          <a:bodyPr wrap="square" lIns="0" tIns="0" rIns="0" bIns="0" rtlCol="0" anchor="ctr"/>
          <a:lstStyle/>
          <a:p>
            <a:pPr indent="0" marL="0">
              <a:buNone/>
            </a:pPr>
            <a:r>
              <a:rPr lang="en-US" sz="2200" b="1" dirty="0">
                <a:solidFill>
                  <a:schemeClr val="bg1"/>
                </a:solidFill>
              </a:rPr>
              <a:t>WorkNest: </a:t>
            </a:r>
            <a:pPr indent="0" marL="0">
              <a:buNone/>
            </a:pPr>
            <a:r>
              <a:rPr lang="en-US" sz="2200" dirty="0">
                <a:solidFill>
                  <a:schemeClr val="bg1"/>
                </a:solidFill>
              </a:rPr>
              <a:t>one place to find jobs, apply, and run the whole hiring pipeline.</a:t>
            </a:r>
            <a:endParaRPr lang="en-US" sz="2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nchor="ctr"/>
          <a:lstStyle/>
          <a:p>
            <a:pPr indent="0" marL="0">
              <a:buNone/>
            </a:pPr>
            <a:r>
              <a:rPr lang="en-US" sz="3600" b="1" dirty="0">
                <a:solidFill>
                  <a:schemeClr val="tx1"/>
                </a:solidFill>
              </a:rPr>
              <a:t>Four kinds of user, one platform</a:t>
            </a:r>
            <a:endParaRPr lang="en-US" sz="3600" dirty="0"/>
          </a:p>
        </p:txBody>
      </p:sp>
      <p:sp>
        <p:nvSpPr>
          <p:cNvPr id="3" name="Visitor card"/>
          <p:cNvSpPr/>
          <p:nvPr/>
        </p:nvSpPr>
        <p:spPr>
          <a:xfrm>
            <a:off x="548640" y="1554480"/>
            <a:ext cx="2587752" cy="3657600"/>
          </a:xfrm>
          <a:prstGeom prst="roundRect">
            <a:avLst>
              <a:gd name="adj" fmla="val 4240"/>
            </a:avLst>
          </a:prstGeom>
          <a:solidFill>
            <a:schemeClr val="bg2"/>
          </a:solidFill>
          <a:ln/>
        </p:spPr>
      </p:sp>
      <p:sp>
        <p:nvSpPr>
          <p:cNvPr id="4" name="Visitor circle"/>
          <p:cNvSpPr/>
          <p:nvPr/>
        </p:nvSpPr>
        <p:spPr>
          <a:xfrm>
            <a:off x="1339596" y="1965960"/>
            <a:ext cx="1005840" cy="1005840"/>
          </a:xfrm>
          <a:prstGeom prst="ellipse">
            <a:avLst/>
          </a:prstGeom>
          <a:solidFill>
            <a:schemeClr val="accent1"/>
          </a:solidFill>
          <a:ln/>
        </p:spPr>
      </p:sp>
      <p:pic>
        <p:nvPicPr>
          <p:cNvPr id="5" name="Visitor icon" descr="preencoded.png">    </p:cNvPr>
          <p:cNvPicPr>
            <a:picLocks noChangeAspect="1"/>
          </p:cNvPicPr>
          <p:nvPr/>
        </p:nvPicPr>
        <p:blipFill>
          <a:blip r:embed="rId1"/>
          <a:stretch>
            <a:fillRect/>
          </a:stretch>
        </p:blipFill>
        <p:spPr>
          <a:xfrm>
            <a:off x="1591056" y="2217420"/>
            <a:ext cx="502920" cy="502920"/>
          </a:xfrm>
          <a:prstGeom prst="rect">
            <a:avLst/>
          </a:prstGeom>
        </p:spPr>
      </p:pic>
      <p:sp>
        <p:nvSpPr>
          <p:cNvPr id="6" name="Visitor heading"/>
          <p:cNvSpPr txBox="1"/>
          <p:nvPr/>
        </p:nvSpPr>
        <p:spPr>
          <a:xfrm>
            <a:off x="777240" y="3200400"/>
            <a:ext cx="2130552" cy="548640"/>
          </a:xfrm>
          <a:prstGeom prst="rect">
            <a:avLst/>
          </a:prstGeom>
          <a:noFill/>
          <a:ln/>
        </p:spPr>
        <p:txBody>
          <a:bodyPr wrap="square" lIns="0" tIns="0" rIns="0" bIns="0" rtlCol="0" anchor="ctr"/>
          <a:lstStyle/>
          <a:p>
            <a:pPr algn="ctr" indent="0" marL="0">
              <a:buNone/>
            </a:pPr>
            <a:r>
              <a:rPr lang="en-US" sz="2200" b="1" dirty="0">
                <a:solidFill>
                  <a:schemeClr val="tx1"/>
                </a:solidFill>
              </a:rPr>
              <a:t>Visitor</a:t>
            </a:r>
            <a:endParaRPr lang="en-US" sz="2200" dirty="0"/>
          </a:p>
        </p:txBody>
      </p:sp>
      <p:sp>
        <p:nvSpPr>
          <p:cNvPr id="7" name="Visitor text"/>
          <p:cNvSpPr txBox="1"/>
          <p:nvPr/>
        </p:nvSpPr>
        <p:spPr>
          <a:xfrm>
            <a:off x="822960" y="3840480"/>
            <a:ext cx="2039112" cy="1554480"/>
          </a:xfrm>
          <a:prstGeom prst="rect">
            <a:avLst/>
          </a:prstGeom>
          <a:noFill/>
          <a:ln/>
        </p:spPr>
        <p:txBody>
          <a:bodyPr wrap="square" lIns="0" tIns="0" rIns="0" bIns="0" rtlCol="0" anchor="t"/>
          <a:lstStyle/>
          <a:p>
            <a:pPr algn="ctr" indent="0" marL="0">
              <a:buNone/>
            </a:pPr>
            <a:r>
              <a:rPr lang="en-US" sz="1600" dirty="0">
                <a:solidFill>
                  <a:schemeClr val="tx2"/>
                </a:solidFill>
              </a:rPr>
              <a:t>Browses and searches open jobs without an account</a:t>
            </a:r>
            <a:endParaRPr lang="en-US" sz="1600" dirty="0"/>
          </a:p>
        </p:txBody>
      </p:sp>
      <p:sp>
        <p:nvSpPr>
          <p:cNvPr id="8" name="Candidate card"/>
          <p:cNvSpPr/>
          <p:nvPr/>
        </p:nvSpPr>
        <p:spPr>
          <a:xfrm>
            <a:off x="3383280" y="1554480"/>
            <a:ext cx="2587752" cy="3657600"/>
          </a:xfrm>
          <a:prstGeom prst="roundRect">
            <a:avLst>
              <a:gd name="adj" fmla="val 4240"/>
            </a:avLst>
          </a:prstGeom>
          <a:solidFill>
            <a:schemeClr val="bg2"/>
          </a:solidFill>
          <a:ln/>
        </p:spPr>
      </p:sp>
      <p:sp>
        <p:nvSpPr>
          <p:cNvPr id="9" name="Candidate circle"/>
          <p:cNvSpPr/>
          <p:nvPr/>
        </p:nvSpPr>
        <p:spPr>
          <a:xfrm>
            <a:off x="4174236" y="1965960"/>
            <a:ext cx="1005840" cy="1005840"/>
          </a:xfrm>
          <a:prstGeom prst="ellipse">
            <a:avLst/>
          </a:prstGeom>
          <a:solidFill>
            <a:schemeClr val="accent1"/>
          </a:solidFill>
          <a:ln/>
        </p:spPr>
      </p:sp>
      <p:pic>
        <p:nvPicPr>
          <p:cNvPr id="10" name="Candidate icon" descr="preencoded.png">    </p:cNvPr>
          <p:cNvPicPr>
            <a:picLocks noChangeAspect="1"/>
          </p:cNvPicPr>
          <p:nvPr/>
        </p:nvPicPr>
        <p:blipFill>
          <a:blip r:embed="rId2"/>
          <a:stretch>
            <a:fillRect/>
          </a:stretch>
        </p:blipFill>
        <p:spPr>
          <a:xfrm>
            <a:off x="4425696" y="2217420"/>
            <a:ext cx="502920" cy="502920"/>
          </a:xfrm>
          <a:prstGeom prst="rect">
            <a:avLst/>
          </a:prstGeom>
        </p:spPr>
      </p:pic>
      <p:sp>
        <p:nvSpPr>
          <p:cNvPr id="11" name="Candidate heading"/>
          <p:cNvSpPr txBox="1"/>
          <p:nvPr/>
        </p:nvSpPr>
        <p:spPr>
          <a:xfrm>
            <a:off x="3611880" y="3200400"/>
            <a:ext cx="2130552" cy="548640"/>
          </a:xfrm>
          <a:prstGeom prst="rect">
            <a:avLst/>
          </a:prstGeom>
          <a:noFill/>
          <a:ln/>
        </p:spPr>
        <p:txBody>
          <a:bodyPr wrap="square" lIns="0" tIns="0" rIns="0" bIns="0" rtlCol="0" anchor="ctr"/>
          <a:lstStyle/>
          <a:p>
            <a:pPr algn="ctr" indent="0" marL="0">
              <a:buNone/>
            </a:pPr>
            <a:r>
              <a:rPr lang="en-US" sz="2200" b="1" dirty="0">
                <a:solidFill>
                  <a:schemeClr val="tx1"/>
                </a:solidFill>
              </a:rPr>
              <a:t>Candidate</a:t>
            </a:r>
            <a:endParaRPr lang="en-US" sz="2200" dirty="0"/>
          </a:p>
        </p:txBody>
      </p:sp>
      <p:sp>
        <p:nvSpPr>
          <p:cNvPr id="12" name="Candidate text"/>
          <p:cNvSpPr txBox="1"/>
          <p:nvPr/>
        </p:nvSpPr>
        <p:spPr>
          <a:xfrm>
            <a:off x="3657600" y="3840480"/>
            <a:ext cx="2039112" cy="1554480"/>
          </a:xfrm>
          <a:prstGeom prst="rect">
            <a:avLst/>
          </a:prstGeom>
          <a:noFill/>
          <a:ln/>
        </p:spPr>
        <p:txBody>
          <a:bodyPr wrap="square" lIns="0" tIns="0" rIns="0" bIns="0" rtlCol="0" anchor="t"/>
          <a:lstStyle/>
          <a:p>
            <a:pPr algn="ctr" indent="0" marL="0">
              <a:buNone/>
            </a:pPr>
            <a:r>
              <a:rPr lang="en-US" sz="1600" dirty="0">
                <a:solidFill>
                  <a:schemeClr val="tx2"/>
                </a:solidFill>
              </a:rPr>
              <a:t>Builds a profile, saves jobs, applies and tracks progress</a:t>
            </a:r>
            <a:endParaRPr lang="en-US" sz="1600" dirty="0"/>
          </a:p>
        </p:txBody>
      </p:sp>
      <p:sp>
        <p:nvSpPr>
          <p:cNvPr id="13" name="Recruiter card"/>
          <p:cNvSpPr/>
          <p:nvPr/>
        </p:nvSpPr>
        <p:spPr>
          <a:xfrm>
            <a:off x="6217920" y="1554480"/>
            <a:ext cx="2587752" cy="3657600"/>
          </a:xfrm>
          <a:prstGeom prst="roundRect">
            <a:avLst>
              <a:gd name="adj" fmla="val 4240"/>
            </a:avLst>
          </a:prstGeom>
          <a:solidFill>
            <a:schemeClr val="bg2"/>
          </a:solidFill>
          <a:ln/>
        </p:spPr>
      </p:sp>
      <p:sp>
        <p:nvSpPr>
          <p:cNvPr id="14" name="Recruiter circle"/>
          <p:cNvSpPr/>
          <p:nvPr/>
        </p:nvSpPr>
        <p:spPr>
          <a:xfrm>
            <a:off x="7008876" y="1965960"/>
            <a:ext cx="1005840" cy="1005840"/>
          </a:xfrm>
          <a:prstGeom prst="ellipse">
            <a:avLst/>
          </a:prstGeom>
          <a:solidFill>
            <a:schemeClr val="accent1"/>
          </a:solidFill>
          <a:ln/>
        </p:spPr>
      </p:sp>
      <p:pic>
        <p:nvPicPr>
          <p:cNvPr id="15" name="Recruiter icon" descr="preencoded.png">    </p:cNvPr>
          <p:cNvPicPr>
            <a:picLocks noChangeAspect="1"/>
          </p:cNvPicPr>
          <p:nvPr/>
        </p:nvPicPr>
        <p:blipFill>
          <a:blip r:embed="rId3"/>
          <a:stretch>
            <a:fillRect/>
          </a:stretch>
        </p:blipFill>
        <p:spPr>
          <a:xfrm>
            <a:off x="7260336" y="2217420"/>
            <a:ext cx="502920" cy="502920"/>
          </a:xfrm>
          <a:prstGeom prst="rect">
            <a:avLst/>
          </a:prstGeom>
        </p:spPr>
      </p:pic>
      <p:sp>
        <p:nvSpPr>
          <p:cNvPr id="16" name="Recruiter heading"/>
          <p:cNvSpPr txBox="1"/>
          <p:nvPr/>
        </p:nvSpPr>
        <p:spPr>
          <a:xfrm>
            <a:off x="6446520" y="3200400"/>
            <a:ext cx="2130552" cy="548640"/>
          </a:xfrm>
          <a:prstGeom prst="rect">
            <a:avLst/>
          </a:prstGeom>
          <a:noFill/>
          <a:ln/>
        </p:spPr>
        <p:txBody>
          <a:bodyPr wrap="square" lIns="0" tIns="0" rIns="0" bIns="0" rtlCol="0" anchor="ctr"/>
          <a:lstStyle/>
          <a:p>
            <a:pPr algn="ctr" indent="0" marL="0">
              <a:buNone/>
            </a:pPr>
            <a:r>
              <a:rPr lang="en-US" sz="2200" b="1" dirty="0">
                <a:solidFill>
                  <a:schemeClr val="tx1"/>
                </a:solidFill>
              </a:rPr>
              <a:t>Recruiter</a:t>
            </a:r>
            <a:endParaRPr lang="en-US" sz="2200" dirty="0"/>
          </a:p>
        </p:txBody>
      </p:sp>
      <p:sp>
        <p:nvSpPr>
          <p:cNvPr id="17" name="Recruiter text"/>
          <p:cNvSpPr txBox="1"/>
          <p:nvPr/>
        </p:nvSpPr>
        <p:spPr>
          <a:xfrm>
            <a:off x="6492240" y="3840480"/>
            <a:ext cx="2039112" cy="1554480"/>
          </a:xfrm>
          <a:prstGeom prst="rect">
            <a:avLst/>
          </a:prstGeom>
          <a:noFill/>
          <a:ln/>
        </p:spPr>
        <p:txBody>
          <a:bodyPr wrap="square" lIns="0" tIns="0" rIns="0" bIns="0" rtlCol="0" anchor="t"/>
          <a:lstStyle/>
          <a:p>
            <a:pPr algn="ctr" indent="0" marL="0">
              <a:buNone/>
            </a:pPr>
            <a:r>
              <a:rPr lang="en-US" sz="1600" dirty="0">
                <a:solidFill>
                  <a:schemeClr val="tx2"/>
                </a:solidFill>
              </a:rPr>
              <a:t>Posts roles and moves applicants through the pipeline</a:t>
            </a:r>
            <a:endParaRPr lang="en-US" sz="1600" dirty="0"/>
          </a:p>
        </p:txBody>
      </p:sp>
      <p:sp>
        <p:nvSpPr>
          <p:cNvPr id="18" name="Admin card"/>
          <p:cNvSpPr/>
          <p:nvPr/>
        </p:nvSpPr>
        <p:spPr>
          <a:xfrm>
            <a:off x="9052560" y="1554480"/>
            <a:ext cx="2587752" cy="3657600"/>
          </a:xfrm>
          <a:prstGeom prst="roundRect">
            <a:avLst>
              <a:gd name="adj" fmla="val 4240"/>
            </a:avLst>
          </a:prstGeom>
          <a:solidFill>
            <a:schemeClr val="bg2"/>
          </a:solidFill>
          <a:ln/>
        </p:spPr>
      </p:sp>
      <p:sp>
        <p:nvSpPr>
          <p:cNvPr id="19" name="Admin circle"/>
          <p:cNvSpPr/>
          <p:nvPr/>
        </p:nvSpPr>
        <p:spPr>
          <a:xfrm>
            <a:off x="9843516" y="1965960"/>
            <a:ext cx="1005840" cy="1005840"/>
          </a:xfrm>
          <a:prstGeom prst="ellipse">
            <a:avLst/>
          </a:prstGeom>
          <a:solidFill>
            <a:schemeClr val="accent1"/>
          </a:solidFill>
          <a:ln/>
        </p:spPr>
      </p:sp>
      <p:pic>
        <p:nvPicPr>
          <p:cNvPr id="20" name="Admin icon" descr="preencoded.png">    </p:cNvPr>
          <p:cNvPicPr>
            <a:picLocks noChangeAspect="1"/>
          </p:cNvPicPr>
          <p:nvPr/>
        </p:nvPicPr>
        <p:blipFill>
          <a:blip r:embed="rId4"/>
          <a:stretch>
            <a:fillRect/>
          </a:stretch>
        </p:blipFill>
        <p:spPr>
          <a:xfrm>
            <a:off x="10094976" y="2217420"/>
            <a:ext cx="502920" cy="502920"/>
          </a:xfrm>
          <a:prstGeom prst="rect">
            <a:avLst/>
          </a:prstGeom>
        </p:spPr>
      </p:pic>
      <p:sp>
        <p:nvSpPr>
          <p:cNvPr id="21" name="Admin heading"/>
          <p:cNvSpPr txBox="1"/>
          <p:nvPr/>
        </p:nvSpPr>
        <p:spPr>
          <a:xfrm>
            <a:off x="9281160" y="3200400"/>
            <a:ext cx="2130552" cy="548640"/>
          </a:xfrm>
          <a:prstGeom prst="rect">
            <a:avLst/>
          </a:prstGeom>
          <a:noFill/>
          <a:ln/>
        </p:spPr>
        <p:txBody>
          <a:bodyPr wrap="square" lIns="0" tIns="0" rIns="0" bIns="0" rtlCol="0" anchor="ctr"/>
          <a:lstStyle/>
          <a:p>
            <a:pPr algn="ctr" indent="0" marL="0">
              <a:buNone/>
            </a:pPr>
            <a:r>
              <a:rPr lang="en-US" sz="2200" b="1" dirty="0">
                <a:solidFill>
                  <a:schemeClr val="tx1"/>
                </a:solidFill>
              </a:rPr>
              <a:t>Admin</a:t>
            </a:r>
            <a:endParaRPr lang="en-US" sz="2200" dirty="0"/>
          </a:p>
        </p:txBody>
      </p:sp>
      <p:sp>
        <p:nvSpPr>
          <p:cNvPr id="22" name="Admin text"/>
          <p:cNvSpPr txBox="1"/>
          <p:nvPr/>
        </p:nvSpPr>
        <p:spPr>
          <a:xfrm>
            <a:off x="9326880" y="3840480"/>
            <a:ext cx="2039112" cy="1554480"/>
          </a:xfrm>
          <a:prstGeom prst="rect">
            <a:avLst/>
          </a:prstGeom>
          <a:noFill/>
          <a:ln/>
        </p:spPr>
        <p:txBody>
          <a:bodyPr wrap="square" lIns="0" tIns="0" rIns="0" bIns="0" rtlCol="0" anchor="t"/>
          <a:lstStyle/>
          <a:p>
            <a:pPr algn="ctr" indent="0" marL="0">
              <a:buNone/>
            </a:pPr>
            <a:r>
              <a:rPr lang="en-US" sz="1600" dirty="0">
                <a:solidFill>
                  <a:schemeClr val="tx2"/>
                </a:solidFill>
              </a:rPr>
              <a:t>Everything a recruiter does, plus clients and candidates</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nchor="ctr"/>
          <a:lstStyle/>
          <a:p>
            <a:pPr indent="0" marL="0">
              <a:buNone/>
            </a:pPr>
            <a:r>
              <a:rPr lang="en-US" sz="3600" b="1" dirty="0">
                <a:solidFill>
                  <a:schemeClr val="tx1"/>
                </a:solidFill>
              </a:rPr>
              <a:t>What each side can do</a:t>
            </a:r>
            <a:endParaRPr lang="en-US" sz="3600" dirty="0"/>
          </a:p>
        </p:txBody>
      </p:sp>
      <p:sp>
        <p:nvSpPr>
          <p:cNvPr id="3" name="Candidates card"/>
          <p:cNvSpPr/>
          <p:nvPr/>
        </p:nvSpPr>
        <p:spPr>
          <a:xfrm>
            <a:off x="548640" y="1463040"/>
            <a:ext cx="5376672" cy="3657600"/>
          </a:xfrm>
          <a:prstGeom prst="roundRect">
            <a:avLst>
              <a:gd name="adj" fmla="val 3000"/>
            </a:avLst>
          </a:prstGeom>
          <a:solidFill>
            <a:schemeClr val="bg1"/>
          </a:solidFill>
          <a:ln w="9525">
            <a:solidFill>
              <a:schemeClr val="accent6"/>
            </a:solidFill>
            <a:prstDash val="solid"/>
          </a:ln>
        </p:spPr>
      </p:sp>
      <p:sp>
        <p:nvSpPr>
          <p:cNvPr id="4" name="Candidates circle"/>
          <p:cNvSpPr/>
          <p:nvPr/>
        </p:nvSpPr>
        <p:spPr>
          <a:xfrm>
            <a:off x="914400" y="1783080"/>
            <a:ext cx="731520" cy="731520"/>
          </a:xfrm>
          <a:prstGeom prst="ellipse">
            <a:avLst/>
          </a:prstGeom>
          <a:solidFill>
            <a:schemeClr val="accent1"/>
          </a:solidFill>
          <a:ln/>
        </p:spPr>
      </p:sp>
      <p:pic>
        <p:nvPicPr>
          <p:cNvPr id="5" name="Candidates icon" descr="preencoded.png">    </p:cNvPr>
          <p:cNvPicPr>
            <a:picLocks noChangeAspect="1"/>
          </p:cNvPicPr>
          <p:nvPr/>
        </p:nvPicPr>
        <p:blipFill>
          <a:blip r:embed="rId1"/>
          <a:stretch>
            <a:fillRect/>
          </a:stretch>
        </p:blipFill>
        <p:spPr>
          <a:xfrm>
            <a:off x="1097280" y="1965960"/>
            <a:ext cx="365760" cy="365760"/>
          </a:xfrm>
          <a:prstGeom prst="rect">
            <a:avLst/>
          </a:prstGeom>
        </p:spPr>
      </p:pic>
      <p:sp>
        <p:nvSpPr>
          <p:cNvPr id="6" name="Candidates heading"/>
          <p:cNvSpPr txBox="1"/>
          <p:nvPr/>
        </p:nvSpPr>
        <p:spPr>
          <a:xfrm>
            <a:off x="1828800" y="1828800"/>
            <a:ext cx="3840480" cy="640080"/>
          </a:xfrm>
          <a:prstGeom prst="rect">
            <a:avLst/>
          </a:prstGeom>
          <a:noFill/>
          <a:ln/>
        </p:spPr>
        <p:txBody>
          <a:bodyPr wrap="square" lIns="0" tIns="0" rIns="0" bIns="0" rtlCol="0" anchor="ctr"/>
          <a:lstStyle/>
          <a:p>
            <a:pPr indent="0" marL="0">
              <a:buNone/>
            </a:pPr>
            <a:r>
              <a:rPr lang="en-US" sz="2200" b="1" dirty="0">
                <a:solidFill>
                  <a:schemeClr val="tx1"/>
                </a:solidFill>
              </a:rPr>
              <a:t>Candidates</a:t>
            </a:r>
            <a:endParaRPr lang="en-US" sz="2200" dirty="0"/>
          </a:p>
        </p:txBody>
      </p:sp>
      <p:sp>
        <p:nvSpPr>
          <p:cNvPr id="7" name="Candidates list"/>
          <p:cNvSpPr txBox="1"/>
          <p:nvPr/>
        </p:nvSpPr>
        <p:spPr>
          <a:xfrm>
            <a:off x="914400" y="2788920"/>
            <a:ext cx="4663440" cy="283464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chemeClr val="tx2"/>
                </a:solidFill>
              </a:rPr>
              <a:t>Search and filter jobs by type, location and skill</a:t>
            </a:r>
            <a:endParaRPr lang="en-US" sz="1600" dirty="0"/>
          </a:p>
          <a:p>
            <a:pPr marL="342900" indent="-342900">
              <a:spcAft>
                <a:spcPts val="1200"/>
              </a:spcAft>
              <a:buSzPct val="100000"/>
              <a:buChar char="•"/>
            </a:pPr>
            <a:r>
              <a:rPr lang="en-US" sz="1600" dirty="0">
                <a:solidFill>
                  <a:schemeClr val="tx2"/>
                </a:solidFill>
              </a:rPr>
              <a:t>Save jobs and get closing-soon alerts</a:t>
            </a:r>
            <a:endParaRPr lang="en-US" sz="1600" dirty="0"/>
          </a:p>
          <a:p>
            <a:pPr marL="342900" indent="-342900">
              <a:spcAft>
                <a:spcPts val="1200"/>
              </a:spcAft>
              <a:buSzPct val="100000"/>
              <a:buChar char="•"/>
            </a:pPr>
            <a:r>
              <a:rPr lang="en-US" sz="1600" dirty="0">
                <a:solidFill>
                  <a:schemeClr val="tx2"/>
                </a:solidFill>
              </a:rPr>
              <a:t>Apply in a 4-step wizard, pre-filled from the profile</a:t>
            </a:r>
            <a:endParaRPr lang="en-US" sz="1600" dirty="0"/>
          </a:p>
          <a:p>
            <a:pPr marL="342900" indent="-342900">
              <a:spcAft>
                <a:spcPts val="1200"/>
              </a:spcAft>
              <a:buSzPct val="100000"/>
              <a:buChar char="•"/>
            </a:pPr>
            <a:r>
              <a:rPr lang="en-US" sz="1600" dirty="0">
                <a:solidFill>
                  <a:schemeClr val="tx2"/>
                </a:solidFill>
              </a:rPr>
              <a:t>Track every application stage by stage</a:t>
            </a:r>
            <a:endParaRPr lang="en-US" sz="1600" dirty="0"/>
          </a:p>
        </p:txBody>
      </p:sp>
      <p:sp>
        <p:nvSpPr>
          <p:cNvPr id="8" name="Admin dashboard card"/>
          <p:cNvSpPr/>
          <p:nvPr/>
        </p:nvSpPr>
        <p:spPr>
          <a:xfrm>
            <a:off x="6263640" y="1463040"/>
            <a:ext cx="5376672" cy="3657600"/>
          </a:xfrm>
          <a:prstGeom prst="roundRect">
            <a:avLst>
              <a:gd name="adj" fmla="val 3000"/>
            </a:avLst>
          </a:prstGeom>
          <a:solidFill>
            <a:schemeClr val="bg1"/>
          </a:solidFill>
          <a:ln w="9525">
            <a:solidFill>
              <a:schemeClr val="accent6"/>
            </a:solidFill>
            <a:prstDash val="solid"/>
          </a:ln>
        </p:spPr>
      </p:sp>
      <p:sp>
        <p:nvSpPr>
          <p:cNvPr id="9" name="Admin dashboard circle"/>
          <p:cNvSpPr/>
          <p:nvPr/>
        </p:nvSpPr>
        <p:spPr>
          <a:xfrm>
            <a:off x="6629400" y="1783080"/>
            <a:ext cx="731520" cy="731520"/>
          </a:xfrm>
          <a:prstGeom prst="ellipse">
            <a:avLst/>
          </a:prstGeom>
          <a:solidFill>
            <a:schemeClr val="accent1"/>
          </a:solidFill>
          <a:ln/>
        </p:spPr>
      </p:sp>
      <p:pic>
        <p:nvPicPr>
          <p:cNvPr id="10" name="Admin dashboard icon" descr="preencoded.png">    </p:cNvPr>
          <p:cNvPicPr>
            <a:picLocks noChangeAspect="1"/>
          </p:cNvPicPr>
          <p:nvPr/>
        </p:nvPicPr>
        <p:blipFill>
          <a:blip r:embed="rId2"/>
          <a:stretch>
            <a:fillRect/>
          </a:stretch>
        </p:blipFill>
        <p:spPr>
          <a:xfrm>
            <a:off x="6812280" y="1965960"/>
            <a:ext cx="365760" cy="365760"/>
          </a:xfrm>
          <a:prstGeom prst="rect">
            <a:avLst/>
          </a:prstGeom>
        </p:spPr>
      </p:pic>
      <p:sp>
        <p:nvSpPr>
          <p:cNvPr id="11" name="Admin dashboard heading"/>
          <p:cNvSpPr txBox="1"/>
          <p:nvPr/>
        </p:nvSpPr>
        <p:spPr>
          <a:xfrm>
            <a:off x="7543800" y="1828800"/>
            <a:ext cx="3840480" cy="640080"/>
          </a:xfrm>
          <a:prstGeom prst="rect">
            <a:avLst/>
          </a:prstGeom>
          <a:noFill/>
          <a:ln/>
        </p:spPr>
        <p:txBody>
          <a:bodyPr wrap="square" lIns="0" tIns="0" rIns="0" bIns="0" rtlCol="0" anchor="ctr"/>
          <a:lstStyle/>
          <a:p>
            <a:pPr indent="0" marL="0">
              <a:buNone/>
            </a:pPr>
            <a:r>
              <a:rPr lang="en-US" sz="2200" b="1" dirty="0">
                <a:solidFill>
                  <a:schemeClr val="tx1"/>
                </a:solidFill>
              </a:rPr>
              <a:t>Admin dashboard</a:t>
            </a:r>
            <a:endParaRPr lang="en-US" sz="2200" dirty="0"/>
          </a:p>
        </p:txBody>
      </p:sp>
      <p:sp>
        <p:nvSpPr>
          <p:cNvPr id="12" name="Admin dashboard list"/>
          <p:cNvSpPr txBox="1"/>
          <p:nvPr/>
        </p:nvSpPr>
        <p:spPr>
          <a:xfrm>
            <a:off x="6629400" y="2788920"/>
            <a:ext cx="4663440" cy="283464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chemeClr val="tx2"/>
                </a:solidFill>
              </a:rPr>
              <a:t>Overview of jobs, applicants and placements</a:t>
            </a:r>
            <a:endParaRPr lang="en-US" sz="1600" dirty="0"/>
          </a:p>
          <a:p>
            <a:pPr marL="342900" indent="-342900">
              <a:spcAft>
                <a:spcPts val="1200"/>
              </a:spcAft>
              <a:buSzPct val="100000"/>
              <a:buChar char="•"/>
            </a:pPr>
            <a:r>
              <a:rPr lang="en-US" sz="1600" dirty="0">
                <a:solidFill>
                  <a:schemeClr val="tx2"/>
                </a:solidFill>
              </a:rPr>
              <a:t>Create roles with custom screening questions</a:t>
            </a:r>
            <a:endParaRPr lang="en-US" sz="1600" dirty="0"/>
          </a:p>
          <a:p>
            <a:pPr marL="342900" indent="-342900">
              <a:spcAft>
                <a:spcPts val="1200"/>
              </a:spcAft>
              <a:buSzPct val="100000"/>
              <a:buChar char="•"/>
            </a:pPr>
            <a:r>
              <a:rPr lang="en-US" sz="1600" dirty="0">
                <a:solidFill>
                  <a:schemeClr val="tx2"/>
                </a:solidFill>
              </a:rPr>
              <a:t>Manage client companies and their logos</a:t>
            </a:r>
            <a:endParaRPr lang="en-US" sz="1600" dirty="0"/>
          </a:p>
          <a:p>
            <a:pPr marL="342900" indent="-342900">
              <a:spcAft>
                <a:spcPts val="1200"/>
              </a:spcAft>
              <a:buSzPct val="100000"/>
              <a:buChar char="•"/>
            </a:pPr>
            <a:r>
              <a:rPr lang="en-US" sz="1600" dirty="0">
                <a:solidFill>
                  <a:schemeClr val="tx2"/>
                </a:solidFill>
              </a:rPr>
              <a:t>Review applicants: stages, scorecards, notes</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nchor="ctr"/>
          <a:lstStyle/>
          <a:p>
            <a:pPr indent="0" marL="0">
              <a:buNone/>
            </a:pPr>
            <a:r>
              <a:rPr lang="en-US" sz="3600" b="1" dirty="0">
                <a:solidFill>
                  <a:schemeClr val="tx1"/>
                </a:solidFill>
              </a:rPr>
              <a:t>Browser, API, database: three tiers</a:t>
            </a:r>
            <a:endParaRPr lang="en-US" sz="3600" dirty="0"/>
          </a:p>
        </p:txBody>
      </p:sp>
      <p:sp>
        <p:nvSpPr>
          <p:cNvPr id="3" name="Frontend box"/>
          <p:cNvSpPr/>
          <p:nvPr/>
        </p:nvSpPr>
        <p:spPr>
          <a:xfrm>
            <a:off x="548640" y="1554480"/>
            <a:ext cx="3200400" cy="2011680"/>
          </a:xfrm>
          <a:prstGeom prst="roundRect">
            <a:avLst>
              <a:gd name="adj" fmla="val 5455"/>
            </a:avLst>
          </a:prstGeom>
          <a:solidFill>
            <a:schemeClr val="bg2"/>
          </a:solidFill>
          <a:ln/>
        </p:spPr>
      </p:sp>
      <p:sp>
        <p:nvSpPr>
          <p:cNvPr id="4" name="Frontend circle"/>
          <p:cNvSpPr/>
          <p:nvPr/>
        </p:nvSpPr>
        <p:spPr>
          <a:xfrm>
            <a:off x="868680" y="1874520"/>
            <a:ext cx="731520" cy="731520"/>
          </a:xfrm>
          <a:prstGeom prst="ellipse">
            <a:avLst/>
          </a:prstGeom>
          <a:solidFill>
            <a:schemeClr val="accent1"/>
          </a:solidFill>
          <a:ln/>
        </p:spPr>
      </p:sp>
      <p:pic>
        <p:nvPicPr>
          <p:cNvPr id="5" name="Frontend icon" descr="preencoded.png">    </p:cNvPr>
          <p:cNvPicPr>
            <a:picLocks noChangeAspect="1"/>
          </p:cNvPicPr>
          <p:nvPr/>
        </p:nvPicPr>
        <p:blipFill>
          <a:blip r:embed="rId1"/>
          <a:stretch>
            <a:fillRect/>
          </a:stretch>
        </p:blipFill>
        <p:spPr>
          <a:xfrm>
            <a:off x="1051560" y="2057400"/>
            <a:ext cx="365760" cy="365760"/>
          </a:xfrm>
          <a:prstGeom prst="rect">
            <a:avLst/>
          </a:prstGeom>
        </p:spPr>
      </p:pic>
      <p:sp>
        <p:nvSpPr>
          <p:cNvPr id="6" name="Frontend heading"/>
          <p:cNvSpPr txBox="1"/>
          <p:nvPr/>
        </p:nvSpPr>
        <p:spPr>
          <a:xfrm>
            <a:off x="868680" y="2697480"/>
            <a:ext cx="2560320" cy="457200"/>
          </a:xfrm>
          <a:prstGeom prst="rect">
            <a:avLst/>
          </a:prstGeom>
          <a:noFill/>
          <a:ln/>
        </p:spPr>
        <p:txBody>
          <a:bodyPr wrap="square" lIns="0" tIns="0" rIns="0" bIns="0" rtlCol="0" anchor="ctr"/>
          <a:lstStyle/>
          <a:p>
            <a:pPr indent="0" marL="0">
              <a:buNone/>
            </a:pPr>
            <a:r>
              <a:rPr lang="en-US" sz="2200" b="1" dirty="0">
                <a:solidFill>
                  <a:schemeClr val="tx1"/>
                </a:solidFill>
              </a:rPr>
              <a:t>Frontend</a:t>
            </a:r>
            <a:endParaRPr lang="en-US" sz="2200" dirty="0"/>
          </a:p>
        </p:txBody>
      </p:sp>
      <p:sp>
        <p:nvSpPr>
          <p:cNvPr id="7" name="Frontend sub"/>
          <p:cNvSpPr txBox="1"/>
          <p:nvPr/>
        </p:nvSpPr>
        <p:spPr>
          <a:xfrm>
            <a:off x="868680" y="3108960"/>
            <a:ext cx="2560320" cy="365760"/>
          </a:xfrm>
          <a:prstGeom prst="rect">
            <a:avLst/>
          </a:prstGeom>
          <a:noFill/>
          <a:ln/>
        </p:spPr>
        <p:txBody>
          <a:bodyPr wrap="square" lIns="0" tIns="0" rIns="0" bIns="0" rtlCol="0" anchor="ctr"/>
          <a:lstStyle/>
          <a:p>
            <a:pPr indent="0" marL="0">
              <a:buNone/>
            </a:pPr>
            <a:r>
              <a:rPr lang="en-US" sz="1600" dirty="0">
                <a:solidFill>
                  <a:schemeClr val="tx2"/>
                </a:solidFill>
              </a:rPr>
              <a:t>React app in the browser</a:t>
            </a:r>
            <a:endParaRPr lang="en-US" sz="1600" dirty="0"/>
          </a:p>
        </p:txBody>
      </p:sp>
      <p:sp>
        <p:nvSpPr>
          <p:cNvPr id="8" name="Backend API box"/>
          <p:cNvSpPr/>
          <p:nvPr/>
        </p:nvSpPr>
        <p:spPr>
          <a:xfrm>
            <a:off x="4498848" y="1554480"/>
            <a:ext cx="3200400" cy="2011680"/>
          </a:xfrm>
          <a:prstGeom prst="roundRect">
            <a:avLst>
              <a:gd name="adj" fmla="val 5455"/>
            </a:avLst>
          </a:prstGeom>
          <a:solidFill>
            <a:schemeClr val="accent1"/>
          </a:solidFill>
          <a:ln/>
        </p:spPr>
      </p:sp>
      <p:sp>
        <p:nvSpPr>
          <p:cNvPr id="9" name="Backend API circle"/>
          <p:cNvSpPr/>
          <p:nvPr/>
        </p:nvSpPr>
        <p:spPr>
          <a:xfrm>
            <a:off x="4818888" y="1874520"/>
            <a:ext cx="731520" cy="731520"/>
          </a:xfrm>
          <a:prstGeom prst="ellipse">
            <a:avLst/>
          </a:prstGeom>
          <a:solidFill>
            <a:schemeClr val="bg1"/>
          </a:solidFill>
          <a:ln/>
        </p:spPr>
      </p:sp>
      <p:pic>
        <p:nvPicPr>
          <p:cNvPr id="10" name="Backend API icon" descr="preencoded.png">    </p:cNvPr>
          <p:cNvPicPr>
            <a:picLocks noChangeAspect="1"/>
          </p:cNvPicPr>
          <p:nvPr/>
        </p:nvPicPr>
        <p:blipFill>
          <a:blip r:embed="rId2"/>
          <a:stretch>
            <a:fillRect/>
          </a:stretch>
        </p:blipFill>
        <p:spPr>
          <a:xfrm>
            <a:off x="5001768" y="2057400"/>
            <a:ext cx="365760" cy="365760"/>
          </a:xfrm>
          <a:prstGeom prst="rect">
            <a:avLst/>
          </a:prstGeom>
        </p:spPr>
      </p:pic>
      <p:sp>
        <p:nvSpPr>
          <p:cNvPr id="11" name="Backend API heading"/>
          <p:cNvSpPr txBox="1"/>
          <p:nvPr/>
        </p:nvSpPr>
        <p:spPr>
          <a:xfrm>
            <a:off x="4818888" y="2697480"/>
            <a:ext cx="2560320" cy="457200"/>
          </a:xfrm>
          <a:prstGeom prst="rect">
            <a:avLst/>
          </a:prstGeom>
          <a:noFill/>
          <a:ln/>
        </p:spPr>
        <p:txBody>
          <a:bodyPr wrap="square" lIns="0" tIns="0" rIns="0" bIns="0" rtlCol="0" anchor="ctr"/>
          <a:lstStyle/>
          <a:p>
            <a:pPr indent="0" marL="0">
              <a:buNone/>
            </a:pPr>
            <a:r>
              <a:rPr lang="en-US" sz="2200" b="1" dirty="0">
                <a:solidFill>
                  <a:schemeClr val="bg1"/>
                </a:solidFill>
              </a:rPr>
              <a:t>Backend API</a:t>
            </a:r>
            <a:endParaRPr lang="en-US" sz="2200" dirty="0"/>
          </a:p>
        </p:txBody>
      </p:sp>
      <p:sp>
        <p:nvSpPr>
          <p:cNvPr id="12" name="Backend API sub"/>
          <p:cNvSpPr txBox="1"/>
          <p:nvPr/>
        </p:nvSpPr>
        <p:spPr>
          <a:xfrm>
            <a:off x="4818888" y="3108960"/>
            <a:ext cx="2560320" cy="365760"/>
          </a:xfrm>
          <a:prstGeom prst="rect">
            <a:avLst/>
          </a:prstGeom>
          <a:noFill/>
          <a:ln/>
        </p:spPr>
        <p:txBody>
          <a:bodyPr wrap="square" lIns="0" tIns="0" rIns="0" bIns="0" rtlCol="0" anchor="ctr"/>
          <a:lstStyle/>
          <a:p>
            <a:pPr indent="0" marL="0">
              <a:buNone/>
            </a:pPr>
            <a:r>
              <a:rPr lang="en-US" sz="1600" dirty="0">
                <a:solidFill>
                  <a:schemeClr val="bg2"/>
                </a:solidFill>
              </a:rPr>
              <a:t>Express on Node.js</a:t>
            </a:r>
            <a:endParaRPr lang="en-US" sz="1600" dirty="0"/>
          </a:p>
        </p:txBody>
      </p:sp>
      <p:sp>
        <p:nvSpPr>
          <p:cNvPr id="13" name="Database box"/>
          <p:cNvSpPr/>
          <p:nvPr/>
        </p:nvSpPr>
        <p:spPr>
          <a:xfrm>
            <a:off x="8439912" y="1554480"/>
            <a:ext cx="3200400" cy="2011680"/>
          </a:xfrm>
          <a:prstGeom prst="roundRect">
            <a:avLst>
              <a:gd name="adj" fmla="val 5455"/>
            </a:avLst>
          </a:prstGeom>
          <a:solidFill>
            <a:schemeClr val="bg2"/>
          </a:solidFill>
          <a:ln/>
        </p:spPr>
      </p:sp>
      <p:sp>
        <p:nvSpPr>
          <p:cNvPr id="14" name="Database circle"/>
          <p:cNvSpPr/>
          <p:nvPr/>
        </p:nvSpPr>
        <p:spPr>
          <a:xfrm>
            <a:off x="8759952" y="1874520"/>
            <a:ext cx="731520" cy="731520"/>
          </a:xfrm>
          <a:prstGeom prst="ellipse">
            <a:avLst/>
          </a:prstGeom>
          <a:solidFill>
            <a:schemeClr val="accent1"/>
          </a:solidFill>
          <a:ln/>
        </p:spPr>
      </p:sp>
      <p:pic>
        <p:nvPicPr>
          <p:cNvPr id="15" name="Database icon" descr="preencoded.png">    </p:cNvPr>
          <p:cNvPicPr>
            <a:picLocks noChangeAspect="1"/>
          </p:cNvPicPr>
          <p:nvPr/>
        </p:nvPicPr>
        <p:blipFill>
          <a:blip r:embed="rId3"/>
          <a:stretch>
            <a:fillRect/>
          </a:stretch>
        </p:blipFill>
        <p:spPr>
          <a:xfrm>
            <a:off x="8942832" y="2057400"/>
            <a:ext cx="365760" cy="365760"/>
          </a:xfrm>
          <a:prstGeom prst="rect">
            <a:avLst/>
          </a:prstGeom>
        </p:spPr>
      </p:pic>
      <p:sp>
        <p:nvSpPr>
          <p:cNvPr id="16" name="Database heading"/>
          <p:cNvSpPr txBox="1"/>
          <p:nvPr/>
        </p:nvSpPr>
        <p:spPr>
          <a:xfrm>
            <a:off x="8759952" y="2697480"/>
            <a:ext cx="2560320" cy="457200"/>
          </a:xfrm>
          <a:prstGeom prst="rect">
            <a:avLst/>
          </a:prstGeom>
          <a:noFill/>
          <a:ln/>
        </p:spPr>
        <p:txBody>
          <a:bodyPr wrap="square" lIns="0" tIns="0" rIns="0" bIns="0" rtlCol="0" anchor="ctr"/>
          <a:lstStyle/>
          <a:p>
            <a:pPr indent="0" marL="0">
              <a:buNone/>
            </a:pPr>
            <a:r>
              <a:rPr lang="en-US" sz="2200" b="1" dirty="0">
                <a:solidFill>
                  <a:schemeClr val="tx1"/>
                </a:solidFill>
              </a:rPr>
              <a:t>Database</a:t>
            </a:r>
            <a:endParaRPr lang="en-US" sz="2200" dirty="0"/>
          </a:p>
        </p:txBody>
      </p:sp>
      <p:sp>
        <p:nvSpPr>
          <p:cNvPr id="17" name="Database sub"/>
          <p:cNvSpPr txBox="1"/>
          <p:nvPr/>
        </p:nvSpPr>
        <p:spPr>
          <a:xfrm>
            <a:off x="8759952" y="3108960"/>
            <a:ext cx="2560320" cy="365760"/>
          </a:xfrm>
          <a:prstGeom prst="rect">
            <a:avLst/>
          </a:prstGeom>
          <a:noFill/>
          <a:ln/>
        </p:spPr>
        <p:txBody>
          <a:bodyPr wrap="square" lIns="0" tIns="0" rIns="0" bIns="0" rtlCol="0" anchor="ctr"/>
          <a:lstStyle/>
          <a:p>
            <a:pPr indent="0" marL="0">
              <a:buNone/>
            </a:pPr>
            <a:r>
              <a:rPr lang="en-US" sz="1600" dirty="0">
                <a:solidFill>
                  <a:schemeClr val="tx2"/>
                </a:solidFill>
              </a:rPr>
              <a:t>MongoDB Atlas</a:t>
            </a:r>
            <a:endParaRPr lang="en-US" sz="1600" dirty="0"/>
          </a:p>
        </p:txBody>
      </p:sp>
      <p:sp>
        <p:nvSpPr>
          <p:cNvPr id="18" name="tier arrow"/>
          <p:cNvSpPr/>
          <p:nvPr/>
        </p:nvSpPr>
        <p:spPr>
          <a:xfrm>
            <a:off x="3794760" y="2560320"/>
            <a:ext cx="658368" cy="0"/>
          </a:xfrm>
          <a:prstGeom prst="line">
            <a:avLst/>
          </a:prstGeom>
          <a:noFill/>
          <a:ln w="25400">
            <a:solidFill>
              <a:schemeClr val="tx2"/>
            </a:solidFill>
            <a:prstDash val="solid"/>
            <a:headEnd type="triangle"/>
            <a:tailEnd type="triangle"/>
          </a:ln>
        </p:spPr>
      </p:sp>
      <p:sp>
        <p:nvSpPr>
          <p:cNvPr id="19" name="tier arrow"/>
          <p:cNvSpPr/>
          <p:nvPr/>
        </p:nvSpPr>
        <p:spPr>
          <a:xfrm>
            <a:off x="7744968" y="2560320"/>
            <a:ext cx="658368" cy="0"/>
          </a:xfrm>
          <a:prstGeom prst="line">
            <a:avLst/>
          </a:prstGeom>
          <a:noFill/>
          <a:ln w="25400">
            <a:solidFill>
              <a:schemeClr val="tx2"/>
            </a:solidFill>
            <a:prstDash val="solid"/>
            <a:headEnd type="triangle"/>
            <a:tailEnd type="triangle"/>
          </a:ln>
        </p:spPr>
      </p:sp>
      <p:sp>
        <p:nvSpPr>
          <p:cNvPr id="20" name="arrow label 1"/>
          <p:cNvSpPr txBox="1"/>
          <p:nvPr/>
        </p:nvSpPr>
        <p:spPr>
          <a:xfrm>
            <a:off x="3520440" y="2103120"/>
            <a:ext cx="1188720" cy="365760"/>
          </a:xfrm>
          <a:prstGeom prst="rect">
            <a:avLst/>
          </a:prstGeom>
          <a:noFill/>
          <a:ln/>
        </p:spPr>
        <p:txBody>
          <a:bodyPr wrap="square" lIns="0" tIns="0" rIns="0" bIns="0" rtlCol="0" anchor="ctr"/>
          <a:lstStyle/>
          <a:p>
            <a:pPr algn="ctr" indent="0" marL="0">
              <a:buNone/>
            </a:pPr>
            <a:r>
              <a:rPr lang="en-US" sz="1100" dirty="0">
                <a:solidFill>
                  <a:schemeClr val="accent6"/>
                </a:solidFill>
              </a:rPr>
              <a:t>JSON</a:t>
            </a:r>
            <a:endParaRPr lang="en-US" sz="1100" dirty="0"/>
          </a:p>
        </p:txBody>
      </p:sp>
      <p:sp>
        <p:nvSpPr>
          <p:cNvPr id="21" name="arrow label 2"/>
          <p:cNvSpPr txBox="1"/>
          <p:nvPr/>
        </p:nvSpPr>
        <p:spPr>
          <a:xfrm>
            <a:off x="7470648" y="2103120"/>
            <a:ext cx="1188720" cy="365760"/>
          </a:xfrm>
          <a:prstGeom prst="rect">
            <a:avLst/>
          </a:prstGeom>
          <a:noFill/>
          <a:ln/>
        </p:spPr>
        <p:txBody>
          <a:bodyPr wrap="square" lIns="0" tIns="0" rIns="0" bIns="0" rtlCol="0" anchor="ctr"/>
          <a:lstStyle/>
          <a:p>
            <a:pPr algn="ctr" indent="0" marL="0">
              <a:buNone/>
            </a:pPr>
            <a:r>
              <a:rPr lang="en-US" sz="1100" dirty="0">
                <a:solidFill>
                  <a:schemeClr val="accent6"/>
                </a:solidFill>
              </a:rPr>
              <a:t>Mongoose</a:t>
            </a:r>
            <a:endParaRPr lang="en-US" sz="1100" dirty="0"/>
          </a:p>
        </p:txBody>
      </p:sp>
      <p:sp>
        <p:nvSpPr>
          <p:cNvPr id="22" name="api to brevo"/>
          <p:cNvSpPr/>
          <p:nvPr/>
        </p:nvSpPr>
        <p:spPr>
          <a:xfrm>
            <a:off x="6099048" y="3566160"/>
            <a:ext cx="0" cy="685800"/>
          </a:xfrm>
          <a:prstGeom prst="line">
            <a:avLst/>
          </a:prstGeom>
          <a:noFill/>
          <a:ln w="19050">
            <a:solidFill>
              <a:schemeClr val="tx2"/>
            </a:solidFill>
            <a:prstDash val="solid"/>
            <a:tailEnd type="triangle"/>
          </a:ln>
        </p:spPr>
      </p:sp>
      <p:sp>
        <p:nvSpPr>
          <p:cNvPr id="23" name="service bus"/>
          <p:cNvSpPr/>
          <p:nvPr/>
        </p:nvSpPr>
        <p:spPr>
          <a:xfrm>
            <a:off x="2148840" y="3931920"/>
            <a:ext cx="7891272" cy="0"/>
          </a:xfrm>
          <a:prstGeom prst="line">
            <a:avLst/>
          </a:prstGeom>
          <a:noFill/>
          <a:ln w="19050">
            <a:solidFill>
              <a:schemeClr val="tx2"/>
            </a:solidFill>
            <a:prstDash val="solid"/>
          </a:ln>
        </p:spPr>
      </p:sp>
      <p:sp>
        <p:nvSpPr>
          <p:cNvPr id="24" name="bus to google"/>
          <p:cNvSpPr/>
          <p:nvPr/>
        </p:nvSpPr>
        <p:spPr>
          <a:xfrm>
            <a:off x="2148840" y="3931920"/>
            <a:ext cx="0" cy="320040"/>
          </a:xfrm>
          <a:prstGeom prst="line">
            <a:avLst/>
          </a:prstGeom>
          <a:noFill/>
          <a:ln w="19050">
            <a:solidFill>
              <a:schemeClr val="tx2"/>
            </a:solidFill>
            <a:prstDash val="solid"/>
            <a:tailEnd type="triangle"/>
          </a:ln>
        </p:spPr>
      </p:sp>
      <p:sp>
        <p:nvSpPr>
          <p:cNvPr id="25" name="bus to cloudinary"/>
          <p:cNvSpPr/>
          <p:nvPr/>
        </p:nvSpPr>
        <p:spPr>
          <a:xfrm>
            <a:off x="10040112" y="3931920"/>
            <a:ext cx="0" cy="320040"/>
          </a:xfrm>
          <a:prstGeom prst="line">
            <a:avLst/>
          </a:prstGeom>
          <a:noFill/>
          <a:ln w="19050">
            <a:solidFill>
              <a:schemeClr val="tx2"/>
            </a:solidFill>
            <a:prstDash val="solid"/>
            <a:tailEnd type="triangle"/>
          </a:ln>
        </p:spPr>
      </p:sp>
      <p:sp>
        <p:nvSpPr>
          <p:cNvPr id="26" name="Google card"/>
          <p:cNvSpPr/>
          <p:nvPr/>
        </p:nvSpPr>
        <p:spPr>
          <a:xfrm>
            <a:off x="548640" y="4297680"/>
            <a:ext cx="3200400" cy="1371600"/>
          </a:xfrm>
          <a:prstGeom prst="roundRect">
            <a:avLst>
              <a:gd name="adj" fmla="val 8000"/>
            </a:avLst>
          </a:prstGeom>
          <a:solidFill>
            <a:schemeClr val="bg1"/>
          </a:solidFill>
          <a:ln w="9525">
            <a:solidFill>
              <a:schemeClr val="accent6"/>
            </a:solidFill>
            <a:prstDash val="solid"/>
          </a:ln>
        </p:spPr>
      </p:sp>
      <p:sp>
        <p:nvSpPr>
          <p:cNvPr id="27" name="Google circle"/>
          <p:cNvSpPr/>
          <p:nvPr/>
        </p:nvSpPr>
        <p:spPr>
          <a:xfrm>
            <a:off x="868680" y="4617720"/>
            <a:ext cx="731520" cy="731520"/>
          </a:xfrm>
          <a:prstGeom prst="ellipse">
            <a:avLst/>
          </a:prstGeom>
          <a:solidFill>
            <a:schemeClr val="accent1"/>
          </a:solidFill>
          <a:ln/>
        </p:spPr>
      </p:sp>
      <p:pic>
        <p:nvPicPr>
          <p:cNvPr id="28" name="Google icon" descr="preencoded.png">    </p:cNvPr>
          <p:cNvPicPr>
            <a:picLocks noChangeAspect="1"/>
          </p:cNvPicPr>
          <p:nvPr/>
        </p:nvPicPr>
        <p:blipFill>
          <a:blip r:embed="rId4"/>
          <a:stretch>
            <a:fillRect/>
          </a:stretch>
        </p:blipFill>
        <p:spPr>
          <a:xfrm>
            <a:off x="1051560" y="4800600"/>
            <a:ext cx="365760" cy="365760"/>
          </a:xfrm>
          <a:prstGeom prst="rect">
            <a:avLst/>
          </a:prstGeom>
        </p:spPr>
      </p:pic>
      <p:sp>
        <p:nvSpPr>
          <p:cNvPr id="29" name="Google heading"/>
          <p:cNvSpPr txBox="1"/>
          <p:nvPr/>
        </p:nvSpPr>
        <p:spPr>
          <a:xfrm>
            <a:off x="1783080" y="4572000"/>
            <a:ext cx="1737360" cy="411480"/>
          </a:xfrm>
          <a:prstGeom prst="rect">
            <a:avLst/>
          </a:prstGeom>
          <a:noFill/>
          <a:ln/>
        </p:spPr>
        <p:txBody>
          <a:bodyPr wrap="square" lIns="0" tIns="0" rIns="0" bIns="0" rtlCol="0" anchor="ctr"/>
          <a:lstStyle/>
          <a:p>
            <a:pPr indent="0" marL="0">
              <a:buNone/>
            </a:pPr>
            <a:r>
              <a:rPr lang="en-US" sz="1800" b="1" dirty="0">
                <a:solidFill>
                  <a:schemeClr val="tx1"/>
                </a:solidFill>
              </a:rPr>
              <a:t>Google</a:t>
            </a:r>
            <a:endParaRPr lang="en-US" sz="1800" dirty="0"/>
          </a:p>
        </p:txBody>
      </p:sp>
      <p:sp>
        <p:nvSpPr>
          <p:cNvPr id="30" name="Google sub"/>
          <p:cNvSpPr txBox="1"/>
          <p:nvPr/>
        </p:nvSpPr>
        <p:spPr>
          <a:xfrm>
            <a:off x="1783080" y="4983480"/>
            <a:ext cx="1737360" cy="502920"/>
          </a:xfrm>
          <a:prstGeom prst="rect">
            <a:avLst/>
          </a:prstGeom>
          <a:noFill/>
          <a:ln/>
        </p:spPr>
        <p:txBody>
          <a:bodyPr wrap="square" lIns="0" tIns="0" rIns="0" bIns="0" rtlCol="0" anchor="t"/>
          <a:lstStyle/>
          <a:p>
            <a:pPr indent="0" marL="0">
              <a:buNone/>
            </a:pPr>
            <a:r>
              <a:rPr lang="en-US" sz="1400" dirty="0">
                <a:solidFill>
                  <a:schemeClr val="tx2"/>
                </a:solidFill>
              </a:rPr>
              <a:t>sign-in</a:t>
            </a:r>
            <a:endParaRPr lang="en-US" sz="1400" dirty="0"/>
          </a:p>
        </p:txBody>
      </p:sp>
      <p:sp>
        <p:nvSpPr>
          <p:cNvPr id="31" name="Brevo card"/>
          <p:cNvSpPr/>
          <p:nvPr/>
        </p:nvSpPr>
        <p:spPr>
          <a:xfrm>
            <a:off x="4498848" y="4297680"/>
            <a:ext cx="3200400" cy="1371600"/>
          </a:xfrm>
          <a:prstGeom prst="roundRect">
            <a:avLst>
              <a:gd name="adj" fmla="val 8000"/>
            </a:avLst>
          </a:prstGeom>
          <a:solidFill>
            <a:schemeClr val="bg1"/>
          </a:solidFill>
          <a:ln w="9525">
            <a:solidFill>
              <a:schemeClr val="accent6"/>
            </a:solidFill>
            <a:prstDash val="solid"/>
          </a:ln>
        </p:spPr>
      </p:sp>
      <p:sp>
        <p:nvSpPr>
          <p:cNvPr id="32" name="Brevo circle"/>
          <p:cNvSpPr/>
          <p:nvPr/>
        </p:nvSpPr>
        <p:spPr>
          <a:xfrm>
            <a:off x="4818888" y="4617720"/>
            <a:ext cx="731520" cy="731520"/>
          </a:xfrm>
          <a:prstGeom prst="ellipse">
            <a:avLst/>
          </a:prstGeom>
          <a:solidFill>
            <a:schemeClr val="accent1"/>
          </a:solidFill>
          <a:ln/>
        </p:spPr>
      </p:sp>
      <p:pic>
        <p:nvPicPr>
          <p:cNvPr id="33" name="Brevo icon" descr="preencoded.png">    </p:cNvPr>
          <p:cNvPicPr>
            <a:picLocks noChangeAspect="1"/>
          </p:cNvPicPr>
          <p:nvPr/>
        </p:nvPicPr>
        <p:blipFill>
          <a:blip r:embed="rId5"/>
          <a:stretch>
            <a:fillRect/>
          </a:stretch>
        </p:blipFill>
        <p:spPr>
          <a:xfrm>
            <a:off x="5001768" y="4800600"/>
            <a:ext cx="365760" cy="365760"/>
          </a:xfrm>
          <a:prstGeom prst="rect">
            <a:avLst/>
          </a:prstGeom>
        </p:spPr>
      </p:pic>
      <p:sp>
        <p:nvSpPr>
          <p:cNvPr id="34" name="Brevo heading"/>
          <p:cNvSpPr txBox="1"/>
          <p:nvPr/>
        </p:nvSpPr>
        <p:spPr>
          <a:xfrm>
            <a:off x="5733288" y="4572000"/>
            <a:ext cx="1737360" cy="411480"/>
          </a:xfrm>
          <a:prstGeom prst="rect">
            <a:avLst/>
          </a:prstGeom>
          <a:noFill/>
          <a:ln/>
        </p:spPr>
        <p:txBody>
          <a:bodyPr wrap="square" lIns="0" tIns="0" rIns="0" bIns="0" rtlCol="0" anchor="ctr"/>
          <a:lstStyle/>
          <a:p>
            <a:pPr indent="0" marL="0">
              <a:buNone/>
            </a:pPr>
            <a:r>
              <a:rPr lang="en-US" sz="1800" b="1" dirty="0">
                <a:solidFill>
                  <a:schemeClr val="tx1"/>
                </a:solidFill>
              </a:rPr>
              <a:t>Brevo</a:t>
            </a:r>
            <a:endParaRPr lang="en-US" sz="1800" dirty="0"/>
          </a:p>
        </p:txBody>
      </p:sp>
      <p:sp>
        <p:nvSpPr>
          <p:cNvPr id="35" name="Brevo sub"/>
          <p:cNvSpPr txBox="1"/>
          <p:nvPr/>
        </p:nvSpPr>
        <p:spPr>
          <a:xfrm>
            <a:off x="5733288" y="4983480"/>
            <a:ext cx="1737360" cy="502920"/>
          </a:xfrm>
          <a:prstGeom prst="rect">
            <a:avLst/>
          </a:prstGeom>
          <a:noFill/>
          <a:ln/>
        </p:spPr>
        <p:txBody>
          <a:bodyPr wrap="square" lIns="0" tIns="0" rIns="0" bIns="0" rtlCol="0" anchor="t"/>
          <a:lstStyle/>
          <a:p>
            <a:pPr indent="0" marL="0">
              <a:buNone/>
            </a:pPr>
            <a:r>
              <a:rPr lang="en-US" sz="1400" dirty="0">
                <a:solidFill>
                  <a:schemeClr val="tx2"/>
                </a:solidFill>
              </a:rPr>
              <a:t>verification and status emails</a:t>
            </a:r>
            <a:endParaRPr lang="en-US" sz="1400" dirty="0"/>
          </a:p>
        </p:txBody>
      </p:sp>
      <p:sp>
        <p:nvSpPr>
          <p:cNvPr id="36" name="Cloudinary card"/>
          <p:cNvSpPr/>
          <p:nvPr/>
        </p:nvSpPr>
        <p:spPr>
          <a:xfrm>
            <a:off x="8439912" y="4297680"/>
            <a:ext cx="3200400" cy="1371600"/>
          </a:xfrm>
          <a:prstGeom prst="roundRect">
            <a:avLst>
              <a:gd name="adj" fmla="val 8000"/>
            </a:avLst>
          </a:prstGeom>
          <a:solidFill>
            <a:schemeClr val="bg1"/>
          </a:solidFill>
          <a:ln w="9525">
            <a:solidFill>
              <a:schemeClr val="accent6"/>
            </a:solidFill>
            <a:prstDash val="solid"/>
          </a:ln>
        </p:spPr>
      </p:sp>
      <p:sp>
        <p:nvSpPr>
          <p:cNvPr id="37" name="Cloudinary circle"/>
          <p:cNvSpPr/>
          <p:nvPr/>
        </p:nvSpPr>
        <p:spPr>
          <a:xfrm>
            <a:off x="8759952" y="4617720"/>
            <a:ext cx="731520" cy="731520"/>
          </a:xfrm>
          <a:prstGeom prst="ellipse">
            <a:avLst/>
          </a:prstGeom>
          <a:solidFill>
            <a:schemeClr val="accent1"/>
          </a:solidFill>
          <a:ln/>
        </p:spPr>
      </p:sp>
      <p:pic>
        <p:nvPicPr>
          <p:cNvPr id="38" name="Cloudinary icon" descr="preencoded.png">    </p:cNvPr>
          <p:cNvPicPr>
            <a:picLocks noChangeAspect="1"/>
          </p:cNvPicPr>
          <p:nvPr/>
        </p:nvPicPr>
        <p:blipFill>
          <a:blip r:embed="rId6"/>
          <a:stretch>
            <a:fillRect/>
          </a:stretch>
        </p:blipFill>
        <p:spPr>
          <a:xfrm>
            <a:off x="8942832" y="4800600"/>
            <a:ext cx="365760" cy="365760"/>
          </a:xfrm>
          <a:prstGeom prst="rect">
            <a:avLst/>
          </a:prstGeom>
        </p:spPr>
      </p:pic>
      <p:sp>
        <p:nvSpPr>
          <p:cNvPr id="39" name="Cloudinary heading"/>
          <p:cNvSpPr txBox="1"/>
          <p:nvPr/>
        </p:nvSpPr>
        <p:spPr>
          <a:xfrm>
            <a:off x="9674352" y="4572000"/>
            <a:ext cx="1737360" cy="411480"/>
          </a:xfrm>
          <a:prstGeom prst="rect">
            <a:avLst/>
          </a:prstGeom>
          <a:noFill/>
          <a:ln/>
        </p:spPr>
        <p:txBody>
          <a:bodyPr wrap="square" lIns="0" tIns="0" rIns="0" bIns="0" rtlCol="0" anchor="ctr"/>
          <a:lstStyle/>
          <a:p>
            <a:pPr indent="0" marL="0">
              <a:buNone/>
            </a:pPr>
            <a:r>
              <a:rPr lang="en-US" sz="1800" b="1" dirty="0">
                <a:solidFill>
                  <a:schemeClr val="tx1"/>
                </a:solidFill>
              </a:rPr>
              <a:t>Cloudinary</a:t>
            </a:r>
            <a:endParaRPr lang="en-US" sz="1800" dirty="0"/>
          </a:p>
        </p:txBody>
      </p:sp>
      <p:sp>
        <p:nvSpPr>
          <p:cNvPr id="40" name="Cloudinary sub"/>
          <p:cNvSpPr txBox="1"/>
          <p:nvPr/>
        </p:nvSpPr>
        <p:spPr>
          <a:xfrm>
            <a:off x="9674352" y="4983480"/>
            <a:ext cx="1737360" cy="502920"/>
          </a:xfrm>
          <a:prstGeom prst="rect">
            <a:avLst/>
          </a:prstGeom>
          <a:noFill/>
          <a:ln/>
        </p:spPr>
        <p:txBody>
          <a:bodyPr wrap="square" lIns="0" tIns="0" rIns="0" bIns="0" rtlCol="0" anchor="t"/>
          <a:lstStyle/>
          <a:p>
            <a:pPr indent="0" marL="0">
              <a:buNone/>
            </a:pPr>
            <a:r>
              <a:rPr lang="en-US" sz="1400" dirty="0">
                <a:solidFill>
                  <a:schemeClr val="tx2"/>
                </a:solidFill>
              </a:rPr>
              <a:t>CVs and client logos</a:t>
            </a:r>
            <a:endParaRPr lang="en-US" sz="1400" dirty="0"/>
          </a:p>
        </p:txBody>
      </p:sp>
      <p:sp>
        <p:nvSpPr>
          <p:cNvPr id="41" name="caption"/>
          <p:cNvSpPr txBox="1"/>
          <p:nvPr/>
        </p:nvSpPr>
        <p:spPr>
          <a:xfrm>
            <a:off x="548640" y="5806440"/>
            <a:ext cx="11091672" cy="411480"/>
          </a:xfrm>
          <a:prstGeom prst="rect">
            <a:avLst/>
          </a:prstGeom>
          <a:noFill/>
          <a:ln/>
        </p:spPr>
        <p:txBody>
          <a:bodyPr wrap="square" lIns="0" tIns="0" rIns="0" bIns="0" rtlCol="0" anchor="ctr"/>
          <a:lstStyle/>
          <a:p>
            <a:pPr indent="0" marL="0">
              <a:buNone/>
            </a:pPr>
            <a:r>
              <a:rPr lang="en-US" sz="1400" i="1" dirty="0">
                <a:solidFill>
                  <a:schemeClr val="tx2"/>
                </a:solidFill>
              </a:rPr>
              <a:t>The browser never talks to the database: every request goes through the API, which checks who you are first.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nchor="ctr"/>
          <a:lstStyle/>
          <a:p>
            <a:pPr indent="0" marL="0">
              <a:buNone/>
            </a:pPr>
            <a:r>
              <a:rPr lang="en-US" sz="3600" b="1" dirty="0">
                <a:solidFill>
                  <a:schemeClr val="tx1"/>
                </a:solidFill>
              </a:rPr>
              <a:t>Built with TypeScript end to end</a:t>
            </a:r>
            <a:endParaRPr lang="en-US" sz="3600" dirty="0"/>
          </a:p>
        </p:txBody>
      </p:sp>
      <p:sp>
        <p:nvSpPr>
          <p:cNvPr id="3" name="Frontend card"/>
          <p:cNvSpPr/>
          <p:nvPr/>
        </p:nvSpPr>
        <p:spPr>
          <a:xfrm>
            <a:off x="548640" y="1463040"/>
            <a:ext cx="3502152" cy="4480560"/>
          </a:xfrm>
          <a:prstGeom prst="roundRect">
            <a:avLst>
              <a:gd name="adj" fmla="val 3133"/>
            </a:avLst>
          </a:prstGeom>
          <a:solidFill>
            <a:schemeClr val="bg2"/>
          </a:solidFill>
          <a:ln/>
        </p:spPr>
      </p:sp>
      <p:sp>
        <p:nvSpPr>
          <p:cNvPr id="4" name="Frontend circle"/>
          <p:cNvSpPr/>
          <p:nvPr/>
        </p:nvSpPr>
        <p:spPr>
          <a:xfrm>
            <a:off x="868680" y="1783080"/>
            <a:ext cx="731520" cy="731520"/>
          </a:xfrm>
          <a:prstGeom prst="ellipse">
            <a:avLst/>
          </a:prstGeom>
          <a:solidFill>
            <a:schemeClr val="accent1"/>
          </a:solidFill>
          <a:ln/>
        </p:spPr>
      </p:sp>
      <p:pic>
        <p:nvPicPr>
          <p:cNvPr id="5" name="Frontend icon" descr="preencoded.png">    </p:cNvPr>
          <p:cNvPicPr>
            <a:picLocks noChangeAspect="1"/>
          </p:cNvPicPr>
          <p:nvPr/>
        </p:nvPicPr>
        <p:blipFill>
          <a:blip r:embed="rId1"/>
          <a:stretch>
            <a:fillRect/>
          </a:stretch>
        </p:blipFill>
        <p:spPr>
          <a:xfrm>
            <a:off x="1051560" y="1965960"/>
            <a:ext cx="365760" cy="365760"/>
          </a:xfrm>
          <a:prstGeom prst="rect">
            <a:avLst/>
          </a:prstGeom>
        </p:spPr>
      </p:pic>
      <p:sp>
        <p:nvSpPr>
          <p:cNvPr id="6" name="Frontend heading"/>
          <p:cNvSpPr txBox="1"/>
          <p:nvPr/>
        </p:nvSpPr>
        <p:spPr>
          <a:xfrm>
            <a:off x="1737360" y="1828800"/>
            <a:ext cx="2130552" cy="640080"/>
          </a:xfrm>
          <a:prstGeom prst="rect">
            <a:avLst/>
          </a:prstGeom>
          <a:noFill/>
          <a:ln/>
        </p:spPr>
        <p:txBody>
          <a:bodyPr wrap="square" lIns="0" tIns="0" rIns="0" bIns="0" rtlCol="0" anchor="ctr"/>
          <a:lstStyle/>
          <a:p>
            <a:pPr indent="0" marL="0">
              <a:buNone/>
            </a:pPr>
            <a:r>
              <a:rPr lang="en-US" sz="2000" b="1" dirty="0">
                <a:solidFill>
                  <a:schemeClr val="tx1"/>
                </a:solidFill>
              </a:rPr>
              <a:t>Frontend</a:t>
            </a:r>
            <a:endParaRPr lang="en-US" sz="2000" dirty="0"/>
          </a:p>
        </p:txBody>
      </p:sp>
      <p:sp>
        <p:nvSpPr>
          <p:cNvPr id="7" name="Frontend chip 1"/>
          <p:cNvSpPr/>
          <p:nvPr/>
        </p:nvSpPr>
        <p:spPr>
          <a:xfrm>
            <a:off x="868680" y="2743200"/>
            <a:ext cx="2862072" cy="384048"/>
          </a:xfrm>
          <a:prstGeom prst="roundRect">
            <a:avLst>
              <a:gd name="adj" fmla="val 50000"/>
            </a:avLst>
          </a:prstGeom>
          <a:solidFill>
            <a:schemeClr val="bg1"/>
          </a:solidFill>
          <a:ln/>
        </p:spPr>
      </p:sp>
      <p:sp>
        <p:nvSpPr>
          <p:cNvPr id="8" name="Frontend chip text 1"/>
          <p:cNvSpPr txBox="1"/>
          <p:nvPr/>
        </p:nvSpPr>
        <p:spPr>
          <a:xfrm>
            <a:off x="1051560" y="2743200"/>
            <a:ext cx="2496312" cy="384048"/>
          </a:xfrm>
          <a:prstGeom prst="rect">
            <a:avLst/>
          </a:prstGeom>
          <a:noFill/>
          <a:ln/>
        </p:spPr>
        <p:txBody>
          <a:bodyPr wrap="square" lIns="0" tIns="0" rIns="0" bIns="0" rtlCol="0" anchor="ctr"/>
          <a:lstStyle/>
          <a:p>
            <a:pPr indent="0" marL="0">
              <a:buNone/>
            </a:pPr>
            <a:r>
              <a:rPr lang="en-US" sz="1500" dirty="0">
                <a:solidFill>
                  <a:schemeClr val="tx1"/>
                </a:solidFill>
              </a:rPr>
              <a:t>React 19</a:t>
            </a:r>
            <a:endParaRPr lang="en-US" sz="1500" dirty="0"/>
          </a:p>
        </p:txBody>
      </p:sp>
      <p:sp>
        <p:nvSpPr>
          <p:cNvPr id="9" name="Frontend chip 2"/>
          <p:cNvSpPr/>
          <p:nvPr/>
        </p:nvSpPr>
        <p:spPr>
          <a:xfrm>
            <a:off x="868680" y="3246120"/>
            <a:ext cx="2862072" cy="384048"/>
          </a:xfrm>
          <a:prstGeom prst="roundRect">
            <a:avLst>
              <a:gd name="adj" fmla="val 50000"/>
            </a:avLst>
          </a:prstGeom>
          <a:solidFill>
            <a:schemeClr val="bg1"/>
          </a:solidFill>
          <a:ln/>
        </p:spPr>
      </p:sp>
      <p:sp>
        <p:nvSpPr>
          <p:cNvPr id="10" name="Frontend chip text 2"/>
          <p:cNvSpPr txBox="1"/>
          <p:nvPr/>
        </p:nvSpPr>
        <p:spPr>
          <a:xfrm>
            <a:off x="1051560" y="3246120"/>
            <a:ext cx="2496312" cy="384048"/>
          </a:xfrm>
          <a:prstGeom prst="rect">
            <a:avLst/>
          </a:prstGeom>
          <a:noFill/>
          <a:ln/>
        </p:spPr>
        <p:txBody>
          <a:bodyPr wrap="square" lIns="0" tIns="0" rIns="0" bIns="0" rtlCol="0" anchor="ctr"/>
          <a:lstStyle/>
          <a:p>
            <a:pPr indent="0" marL="0">
              <a:buNone/>
            </a:pPr>
            <a:r>
              <a:rPr lang="en-US" sz="1500" dirty="0">
                <a:solidFill>
                  <a:schemeClr val="tx1"/>
                </a:solidFill>
              </a:rPr>
              <a:t>TypeScript</a:t>
            </a:r>
            <a:endParaRPr lang="en-US" sz="1500" dirty="0"/>
          </a:p>
        </p:txBody>
      </p:sp>
      <p:sp>
        <p:nvSpPr>
          <p:cNvPr id="11" name="Frontend chip 3"/>
          <p:cNvSpPr/>
          <p:nvPr/>
        </p:nvSpPr>
        <p:spPr>
          <a:xfrm>
            <a:off x="868680" y="3749040"/>
            <a:ext cx="2862072" cy="384048"/>
          </a:xfrm>
          <a:prstGeom prst="roundRect">
            <a:avLst>
              <a:gd name="adj" fmla="val 50000"/>
            </a:avLst>
          </a:prstGeom>
          <a:solidFill>
            <a:schemeClr val="bg1"/>
          </a:solidFill>
          <a:ln/>
        </p:spPr>
      </p:sp>
      <p:sp>
        <p:nvSpPr>
          <p:cNvPr id="12" name="Frontend chip text 3"/>
          <p:cNvSpPr txBox="1"/>
          <p:nvPr/>
        </p:nvSpPr>
        <p:spPr>
          <a:xfrm>
            <a:off x="1051560" y="3749040"/>
            <a:ext cx="2496312" cy="384048"/>
          </a:xfrm>
          <a:prstGeom prst="rect">
            <a:avLst/>
          </a:prstGeom>
          <a:noFill/>
          <a:ln/>
        </p:spPr>
        <p:txBody>
          <a:bodyPr wrap="square" lIns="0" tIns="0" rIns="0" bIns="0" rtlCol="0" anchor="ctr"/>
          <a:lstStyle/>
          <a:p>
            <a:pPr indent="0" marL="0">
              <a:buNone/>
            </a:pPr>
            <a:r>
              <a:rPr lang="en-US" sz="1500" dirty="0">
                <a:solidFill>
                  <a:schemeClr val="tx1"/>
                </a:solidFill>
              </a:rPr>
              <a:t>Vite</a:t>
            </a:r>
            <a:endParaRPr lang="en-US" sz="1500" dirty="0"/>
          </a:p>
        </p:txBody>
      </p:sp>
      <p:sp>
        <p:nvSpPr>
          <p:cNvPr id="13" name="Frontend chip 4"/>
          <p:cNvSpPr/>
          <p:nvPr/>
        </p:nvSpPr>
        <p:spPr>
          <a:xfrm>
            <a:off x="868680" y="4251960"/>
            <a:ext cx="2862072" cy="384048"/>
          </a:xfrm>
          <a:prstGeom prst="roundRect">
            <a:avLst>
              <a:gd name="adj" fmla="val 50000"/>
            </a:avLst>
          </a:prstGeom>
          <a:solidFill>
            <a:schemeClr val="bg1"/>
          </a:solidFill>
          <a:ln/>
        </p:spPr>
      </p:sp>
      <p:sp>
        <p:nvSpPr>
          <p:cNvPr id="14" name="Frontend chip text 4"/>
          <p:cNvSpPr txBox="1"/>
          <p:nvPr/>
        </p:nvSpPr>
        <p:spPr>
          <a:xfrm>
            <a:off x="1051560" y="4251960"/>
            <a:ext cx="2496312" cy="384048"/>
          </a:xfrm>
          <a:prstGeom prst="rect">
            <a:avLst/>
          </a:prstGeom>
          <a:noFill/>
          <a:ln/>
        </p:spPr>
        <p:txBody>
          <a:bodyPr wrap="square" lIns="0" tIns="0" rIns="0" bIns="0" rtlCol="0" anchor="ctr"/>
          <a:lstStyle/>
          <a:p>
            <a:pPr indent="0" marL="0">
              <a:buNone/>
            </a:pPr>
            <a:r>
              <a:rPr lang="en-US" sz="1500" dirty="0">
                <a:solidFill>
                  <a:schemeClr val="tx1"/>
                </a:solidFill>
              </a:rPr>
              <a:t>Tailwind CSS</a:t>
            </a:r>
            <a:endParaRPr lang="en-US" sz="1500" dirty="0"/>
          </a:p>
        </p:txBody>
      </p:sp>
      <p:sp>
        <p:nvSpPr>
          <p:cNvPr id="15" name="Frontend chip 5"/>
          <p:cNvSpPr/>
          <p:nvPr/>
        </p:nvSpPr>
        <p:spPr>
          <a:xfrm>
            <a:off x="868680" y="4754880"/>
            <a:ext cx="2862072" cy="384048"/>
          </a:xfrm>
          <a:prstGeom prst="roundRect">
            <a:avLst>
              <a:gd name="adj" fmla="val 50000"/>
            </a:avLst>
          </a:prstGeom>
          <a:solidFill>
            <a:schemeClr val="bg1"/>
          </a:solidFill>
          <a:ln/>
        </p:spPr>
      </p:sp>
      <p:sp>
        <p:nvSpPr>
          <p:cNvPr id="16" name="Frontend chip text 5"/>
          <p:cNvSpPr txBox="1"/>
          <p:nvPr/>
        </p:nvSpPr>
        <p:spPr>
          <a:xfrm>
            <a:off x="1051560" y="4754880"/>
            <a:ext cx="2496312" cy="384048"/>
          </a:xfrm>
          <a:prstGeom prst="rect">
            <a:avLst/>
          </a:prstGeom>
          <a:noFill/>
          <a:ln/>
        </p:spPr>
        <p:txBody>
          <a:bodyPr wrap="square" lIns="0" tIns="0" rIns="0" bIns="0" rtlCol="0" anchor="ctr"/>
          <a:lstStyle/>
          <a:p>
            <a:pPr indent="0" marL="0">
              <a:buNone/>
            </a:pPr>
            <a:r>
              <a:rPr lang="en-US" sz="1500" dirty="0">
                <a:solidFill>
                  <a:schemeClr val="tx1"/>
                </a:solidFill>
              </a:rPr>
              <a:t>React Router</a:t>
            </a:r>
            <a:endParaRPr lang="en-US" sz="1500" dirty="0"/>
          </a:p>
        </p:txBody>
      </p:sp>
      <p:sp>
        <p:nvSpPr>
          <p:cNvPr id="17" name="Frontend chip 6"/>
          <p:cNvSpPr/>
          <p:nvPr/>
        </p:nvSpPr>
        <p:spPr>
          <a:xfrm>
            <a:off x="868680" y="5257800"/>
            <a:ext cx="2862072" cy="384048"/>
          </a:xfrm>
          <a:prstGeom prst="roundRect">
            <a:avLst>
              <a:gd name="adj" fmla="val 50000"/>
            </a:avLst>
          </a:prstGeom>
          <a:solidFill>
            <a:schemeClr val="bg1"/>
          </a:solidFill>
          <a:ln/>
        </p:spPr>
      </p:sp>
      <p:sp>
        <p:nvSpPr>
          <p:cNvPr id="18" name="Frontend chip text 6"/>
          <p:cNvSpPr txBox="1"/>
          <p:nvPr/>
        </p:nvSpPr>
        <p:spPr>
          <a:xfrm>
            <a:off x="1051560" y="5257800"/>
            <a:ext cx="2496312" cy="384048"/>
          </a:xfrm>
          <a:prstGeom prst="rect">
            <a:avLst/>
          </a:prstGeom>
          <a:noFill/>
          <a:ln/>
        </p:spPr>
        <p:txBody>
          <a:bodyPr wrap="square" lIns="0" tIns="0" rIns="0" bIns="0" rtlCol="0" anchor="ctr"/>
          <a:lstStyle/>
          <a:p>
            <a:pPr indent="0" marL="0">
              <a:buNone/>
            </a:pPr>
            <a:r>
              <a:rPr lang="en-US" sz="1500" dirty="0">
                <a:solidFill>
                  <a:schemeClr val="tx1"/>
                </a:solidFill>
              </a:rPr>
              <a:t>Axios</a:t>
            </a:r>
            <a:endParaRPr lang="en-US" sz="1500" dirty="0"/>
          </a:p>
        </p:txBody>
      </p:sp>
      <p:sp>
        <p:nvSpPr>
          <p:cNvPr id="19" name="Backend card"/>
          <p:cNvSpPr/>
          <p:nvPr/>
        </p:nvSpPr>
        <p:spPr>
          <a:xfrm>
            <a:off x="4343400" y="1463040"/>
            <a:ext cx="3502152" cy="4480560"/>
          </a:xfrm>
          <a:prstGeom prst="roundRect">
            <a:avLst>
              <a:gd name="adj" fmla="val 3133"/>
            </a:avLst>
          </a:prstGeom>
          <a:solidFill>
            <a:schemeClr val="bg2"/>
          </a:solidFill>
          <a:ln/>
        </p:spPr>
      </p:sp>
      <p:sp>
        <p:nvSpPr>
          <p:cNvPr id="20" name="Backend circle"/>
          <p:cNvSpPr/>
          <p:nvPr/>
        </p:nvSpPr>
        <p:spPr>
          <a:xfrm>
            <a:off x="4663440" y="1783080"/>
            <a:ext cx="731520" cy="731520"/>
          </a:xfrm>
          <a:prstGeom prst="ellipse">
            <a:avLst/>
          </a:prstGeom>
          <a:solidFill>
            <a:schemeClr val="accent1"/>
          </a:solidFill>
          <a:ln/>
        </p:spPr>
      </p:sp>
      <p:pic>
        <p:nvPicPr>
          <p:cNvPr id="21" name="Backend icon" descr="preencoded.png">    </p:cNvPr>
          <p:cNvPicPr>
            <a:picLocks noChangeAspect="1"/>
          </p:cNvPicPr>
          <p:nvPr/>
        </p:nvPicPr>
        <p:blipFill>
          <a:blip r:embed="rId2"/>
          <a:stretch>
            <a:fillRect/>
          </a:stretch>
        </p:blipFill>
        <p:spPr>
          <a:xfrm>
            <a:off x="4846320" y="1965960"/>
            <a:ext cx="365760" cy="365760"/>
          </a:xfrm>
          <a:prstGeom prst="rect">
            <a:avLst/>
          </a:prstGeom>
        </p:spPr>
      </p:pic>
      <p:sp>
        <p:nvSpPr>
          <p:cNvPr id="22" name="Backend heading"/>
          <p:cNvSpPr txBox="1"/>
          <p:nvPr/>
        </p:nvSpPr>
        <p:spPr>
          <a:xfrm>
            <a:off x="5532120" y="1828800"/>
            <a:ext cx="2130552" cy="640080"/>
          </a:xfrm>
          <a:prstGeom prst="rect">
            <a:avLst/>
          </a:prstGeom>
          <a:noFill/>
          <a:ln/>
        </p:spPr>
        <p:txBody>
          <a:bodyPr wrap="square" lIns="0" tIns="0" rIns="0" bIns="0" rtlCol="0" anchor="ctr"/>
          <a:lstStyle/>
          <a:p>
            <a:pPr indent="0" marL="0">
              <a:buNone/>
            </a:pPr>
            <a:r>
              <a:rPr lang="en-US" sz="2000" b="1" dirty="0">
                <a:solidFill>
                  <a:schemeClr val="tx1"/>
                </a:solidFill>
              </a:rPr>
              <a:t>Backend</a:t>
            </a:r>
            <a:endParaRPr lang="en-US" sz="2000" dirty="0"/>
          </a:p>
        </p:txBody>
      </p:sp>
      <p:sp>
        <p:nvSpPr>
          <p:cNvPr id="23" name="Backend chip 1"/>
          <p:cNvSpPr/>
          <p:nvPr/>
        </p:nvSpPr>
        <p:spPr>
          <a:xfrm>
            <a:off x="4663440" y="2743200"/>
            <a:ext cx="2862072" cy="384048"/>
          </a:xfrm>
          <a:prstGeom prst="roundRect">
            <a:avLst>
              <a:gd name="adj" fmla="val 50000"/>
            </a:avLst>
          </a:prstGeom>
          <a:solidFill>
            <a:schemeClr val="bg1"/>
          </a:solidFill>
          <a:ln/>
        </p:spPr>
      </p:sp>
      <p:sp>
        <p:nvSpPr>
          <p:cNvPr id="24" name="Backend chip text 1"/>
          <p:cNvSpPr txBox="1"/>
          <p:nvPr/>
        </p:nvSpPr>
        <p:spPr>
          <a:xfrm>
            <a:off x="4846320" y="2743200"/>
            <a:ext cx="2496312" cy="384048"/>
          </a:xfrm>
          <a:prstGeom prst="rect">
            <a:avLst/>
          </a:prstGeom>
          <a:noFill/>
          <a:ln/>
        </p:spPr>
        <p:txBody>
          <a:bodyPr wrap="square" lIns="0" tIns="0" rIns="0" bIns="0" rtlCol="0" anchor="ctr"/>
          <a:lstStyle/>
          <a:p>
            <a:pPr indent="0" marL="0">
              <a:buNone/>
            </a:pPr>
            <a:r>
              <a:rPr lang="en-US" sz="1500" dirty="0">
                <a:solidFill>
                  <a:schemeClr val="tx1"/>
                </a:solidFill>
              </a:rPr>
              <a:t>Node.js</a:t>
            </a:r>
            <a:endParaRPr lang="en-US" sz="1500" dirty="0"/>
          </a:p>
        </p:txBody>
      </p:sp>
      <p:sp>
        <p:nvSpPr>
          <p:cNvPr id="25" name="Backend chip 2"/>
          <p:cNvSpPr/>
          <p:nvPr/>
        </p:nvSpPr>
        <p:spPr>
          <a:xfrm>
            <a:off x="4663440" y="3246120"/>
            <a:ext cx="2862072" cy="384048"/>
          </a:xfrm>
          <a:prstGeom prst="roundRect">
            <a:avLst>
              <a:gd name="adj" fmla="val 50000"/>
            </a:avLst>
          </a:prstGeom>
          <a:solidFill>
            <a:schemeClr val="bg1"/>
          </a:solidFill>
          <a:ln/>
        </p:spPr>
      </p:sp>
      <p:sp>
        <p:nvSpPr>
          <p:cNvPr id="26" name="Backend chip text 2"/>
          <p:cNvSpPr txBox="1"/>
          <p:nvPr/>
        </p:nvSpPr>
        <p:spPr>
          <a:xfrm>
            <a:off x="4846320" y="3246120"/>
            <a:ext cx="2496312" cy="384048"/>
          </a:xfrm>
          <a:prstGeom prst="rect">
            <a:avLst/>
          </a:prstGeom>
          <a:noFill/>
          <a:ln/>
        </p:spPr>
        <p:txBody>
          <a:bodyPr wrap="square" lIns="0" tIns="0" rIns="0" bIns="0" rtlCol="0" anchor="ctr"/>
          <a:lstStyle/>
          <a:p>
            <a:pPr indent="0" marL="0">
              <a:buNone/>
            </a:pPr>
            <a:r>
              <a:rPr lang="en-US" sz="1500" dirty="0">
                <a:solidFill>
                  <a:schemeClr val="tx1"/>
                </a:solidFill>
              </a:rPr>
              <a:t>Express 5</a:t>
            </a:r>
            <a:endParaRPr lang="en-US" sz="1500" dirty="0"/>
          </a:p>
        </p:txBody>
      </p:sp>
      <p:sp>
        <p:nvSpPr>
          <p:cNvPr id="27" name="Backend chip 3"/>
          <p:cNvSpPr/>
          <p:nvPr/>
        </p:nvSpPr>
        <p:spPr>
          <a:xfrm>
            <a:off x="4663440" y="3749040"/>
            <a:ext cx="2862072" cy="384048"/>
          </a:xfrm>
          <a:prstGeom prst="roundRect">
            <a:avLst>
              <a:gd name="adj" fmla="val 50000"/>
            </a:avLst>
          </a:prstGeom>
          <a:solidFill>
            <a:schemeClr val="bg1"/>
          </a:solidFill>
          <a:ln/>
        </p:spPr>
      </p:sp>
      <p:sp>
        <p:nvSpPr>
          <p:cNvPr id="28" name="Backend chip text 3"/>
          <p:cNvSpPr txBox="1"/>
          <p:nvPr/>
        </p:nvSpPr>
        <p:spPr>
          <a:xfrm>
            <a:off x="4846320" y="3749040"/>
            <a:ext cx="2496312" cy="384048"/>
          </a:xfrm>
          <a:prstGeom prst="rect">
            <a:avLst/>
          </a:prstGeom>
          <a:noFill/>
          <a:ln/>
        </p:spPr>
        <p:txBody>
          <a:bodyPr wrap="square" lIns="0" tIns="0" rIns="0" bIns="0" rtlCol="0" anchor="ctr"/>
          <a:lstStyle/>
          <a:p>
            <a:pPr indent="0" marL="0">
              <a:buNone/>
            </a:pPr>
            <a:r>
              <a:rPr lang="en-US" sz="1500" dirty="0">
                <a:solidFill>
                  <a:schemeClr val="tx1"/>
                </a:solidFill>
              </a:rPr>
              <a:t>Mongoose</a:t>
            </a:r>
            <a:endParaRPr lang="en-US" sz="1500" dirty="0"/>
          </a:p>
        </p:txBody>
      </p:sp>
      <p:sp>
        <p:nvSpPr>
          <p:cNvPr id="29" name="Backend chip 4"/>
          <p:cNvSpPr/>
          <p:nvPr/>
        </p:nvSpPr>
        <p:spPr>
          <a:xfrm>
            <a:off x="4663440" y="4251960"/>
            <a:ext cx="2862072" cy="384048"/>
          </a:xfrm>
          <a:prstGeom prst="roundRect">
            <a:avLst>
              <a:gd name="adj" fmla="val 50000"/>
            </a:avLst>
          </a:prstGeom>
          <a:solidFill>
            <a:schemeClr val="bg1"/>
          </a:solidFill>
          <a:ln/>
        </p:spPr>
      </p:sp>
      <p:sp>
        <p:nvSpPr>
          <p:cNvPr id="30" name="Backend chip text 4"/>
          <p:cNvSpPr txBox="1"/>
          <p:nvPr/>
        </p:nvSpPr>
        <p:spPr>
          <a:xfrm>
            <a:off x="4846320" y="4251960"/>
            <a:ext cx="2496312" cy="384048"/>
          </a:xfrm>
          <a:prstGeom prst="rect">
            <a:avLst/>
          </a:prstGeom>
          <a:noFill/>
          <a:ln/>
        </p:spPr>
        <p:txBody>
          <a:bodyPr wrap="square" lIns="0" tIns="0" rIns="0" bIns="0" rtlCol="0" anchor="ctr"/>
          <a:lstStyle/>
          <a:p>
            <a:pPr indent="0" marL="0">
              <a:buNone/>
            </a:pPr>
            <a:r>
              <a:rPr lang="en-US" sz="1500" dirty="0">
                <a:solidFill>
                  <a:schemeClr val="tx1"/>
                </a:solidFill>
              </a:rPr>
              <a:t>JSON Web Tokens</a:t>
            </a:r>
            <a:endParaRPr lang="en-US" sz="1500" dirty="0"/>
          </a:p>
        </p:txBody>
      </p:sp>
      <p:sp>
        <p:nvSpPr>
          <p:cNvPr id="31" name="Backend chip 5"/>
          <p:cNvSpPr/>
          <p:nvPr/>
        </p:nvSpPr>
        <p:spPr>
          <a:xfrm>
            <a:off x="4663440" y="4754880"/>
            <a:ext cx="2862072" cy="384048"/>
          </a:xfrm>
          <a:prstGeom prst="roundRect">
            <a:avLst>
              <a:gd name="adj" fmla="val 50000"/>
            </a:avLst>
          </a:prstGeom>
          <a:solidFill>
            <a:schemeClr val="bg1"/>
          </a:solidFill>
          <a:ln/>
        </p:spPr>
      </p:sp>
      <p:sp>
        <p:nvSpPr>
          <p:cNvPr id="32" name="Backend chip text 5"/>
          <p:cNvSpPr txBox="1"/>
          <p:nvPr/>
        </p:nvSpPr>
        <p:spPr>
          <a:xfrm>
            <a:off x="4846320" y="4754880"/>
            <a:ext cx="2496312" cy="384048"/>
          </a:xfrm>
          <a:prstGeom prst="rect">
            <a:avLst/>
          </a:prstGeom>
          <a:noFill/>
          <a:ln/>
        </p:spPr>
        <p:txBody>
          <a:bodyPr wrap="square" lIns="0" tIns="0" rIns="0" bIns="0" rtlCol="0" anchor="ctr"/>
          <a:lstStyle/>
          <a:p>
            <a:pPr indent="0" marL="0">
              <a:buNone/>
            </a:pPr>
            <a:r>
              <a:rPr lang="en-US" sz="1500" dirty="0">
                <a:solidFill>
                  <a:schemeClr val="tx1"/>
                </a:solidFill>
              </a:rPr>
              <a:t>bcrypt</a:t>
            </a:r>
            <a:endParaRPr lang="en-US" sz="1500" dirty="0"/>
          </a:p>
        </p:txBody>
      </p:sp>
      <p:sp>
        <p:nvSpPr>
          <p:cNvPr id="33" name="Backend chip 6"/>
          <p:cNvSpPr/>
          <p:nvPr/>
        </p:nvSpPr>
        <p:spPr>
          <a:xfrm>
            <a:off x="4663440" y="5257800"/>
            <a:ext cx="2862072" cy="384048"/>
          </a:xfrm>
          <a:prstGeom prst="roundRect">
            <a:avLst>
              <a:gd name="adj" fmla="val 50000"/>
            </a:avLst>
          </a:prstGeom>
          <a:solidFill>
            <a:schemeClr val="bg1"/>
          </a:solidFill>
          <a:ln/>
        </p:spPr>
      </p:sp>
      <p:sp>
        <p:nvSpPr>
          <p:cNvPr id="34" name="Backend chip text 6"/>
          <p:cNvSpPr txBox="1"/>
          <p:nvPr/>
        </p:nvSpPr>
        <p:spPr>
          <a:xfrm>
            <a:off x="4846320" y="5257800"/>
            <a:ext cx="2496312" cy="384048"/>
          </a:xfrm>
          <a:prstGeom prst="rect">
            <a:avLst/>
          </a:prstGeom>
          <a:noFill/>
          <a:ln/>
        </p:spPr>
        <p:txBody>
          <a:bodyPr wrap="square" lIns="0" tIns="0" rIns="0" bIns="0" rtlCol="0" anchor="ctr"/>
          <a:lstStyle/>
          <a:p>
            <a:pPr indent="0" marL="0">
              <a:buNone/>
            </a:pPr>
            <a:r>
              <a:rPr lang="en-US" sz="1500" dirty="0">
                <a:solidFill>
                  <a:schemeClr val="tx1"/>
                </a:solidFill>
              </a:rPr>
              <a:t>Multer</a:t>
            </a:r>
            <a:endParaRPr lang="en-US" sz="1500" dirty="0"/>
          </a:p>
        </p:txBody>
      </p:sp>
      <p:sp>
        <p:nvSpPr>
          <p:cNvPr id="35" name="Services and tools card"/>
          <p:cNvSpPr/>
          <p:nvPr/>
        </p:nvSpPr>
        <p:spPr>
          <a:xfrm>
            <a:off x="8138160" y="1463040"/>
            <a:ext cx="3502152" cy="4480560"/>
          </a:xfrm>
          <a:prstGeom prst="roundRect">
            <a:avLst>
              <a:gd name="adj" fmla="val 3133"/>
            </a:avLst>
          </a:prstGeom>
          <a:solidFill>
            <a:schemeClr val="bg2"/>
          </a:solidFill>
          <a:ln/>
        </p:spPr>
      </p:sp>
      <p:sp>
        <p:nvSpPr>
          <p:cNvPr id="36" name="Services and tools circle"/>
          <p:cNvSpPr/>
          <p:nvPr/>
        </p:nvSpPr>
        <p:spPr>
          <a:xfrm>
            <a:off x="8458200" y="1783080"/>
            <a:ext cx="731520" cy="731520"/>
          </a:xfrm>
          <a:prstGeom prst="ellipse">
            <a:avLst/>
          </a:prstGeom>
          <a:solidFill>
            <a:schemeClr val="accent1"/>
          </a:solidFill>
          <a:ln/>
        </p:spPr>
      </p:sp>
      <p:pic>
        <p:nvPicPr>
          <p:cNvPr id="37" name="Services and tools icon" descr="preencoded.png">    </p:cNvPr>
          <p:cNvPicPr>
            <a:picLocks noChangeAspect="1"/>
          </p:cNvPicPr>
          <p:nvPr/>
        </p:nvPicPr>
        <p:blipFill>
          <a:blip r:embed="rId3"/>
          <a:stretch>
            <a:fillRect/>
          </a:stretch>
        </p:blipFill>
        <p:spPr>
          <a:xfrm>
            <a:off x="8641080" y="1965960"/>
            <a:ext cx="365760" cy="365760"/>
          </a:xfrm>
          <a:prstGeom prst="rect">
            <a:avLst/>
          </a:prstGeom>
        </p:spPr>
      </p:pic>
      <p:sp>
        <p:nvSpPr>
          <p:cNvPr id="38" name="Services and tools heading"/>
          <p:cNvSpPr txBox="1"/>
          <p:nvPr/>
        </p:nvSpPr>
        <p:spPr>
          <a:xfrm>
            <a:off x="9326880" y="1828800"/>
            <a:ext cx="2130552" cy="640080"/>
          </a:xfrm>
          <a:prstGeom prst="rect">
            <a:avLst/>
          </a:prstGeom>
          <a:noFill/>
          <a:ln/>
        </p:spPr>
        <p:txBody>
          <a:bodyPr wrap="square" lIns="0" tIns="0" rIns="0" bIns="0" rtlCol="0" anchor="ctr"/>
          <a:lstStyle/>
          <a:p>
            <a:pPr indent="0" marL="0">
              <a:buNone/>
            </a:pPr>
            <a:r>
              <a:rPr lang="en-US" sz="2000" b="1" dirty="0">
                <a:solidFill>
                  <a:schemeClr val="tx1"/>
                </a:solidFill>
              </a:rPr>
              <a:t>Services and tools</a:t>
            </a:r>
            <a:endParaRPr lang="en-US" sz="2000" dirty="0"/>
          </a:p>
        </p:txBody>
      </p:sp>
      <p:sp>
        <p:nvSpPr>
          <p:cNvPr id="39" name="Services and tools chip 1"/>
          <p:cNvSpPr/>
          <p:nvPr/>
        </p:nvSpPr>
        <p:spPr>
          <a:xfrm>
            <a:off x="8458200" y="2743200"/>
            <a:ext cx="2862072" cy="384048"/>
          </a:xfrm>
          <a:prstGeom prst="roundRect">
            <a:avLst>
              <a:gd name="adj" fmla="val 50000"/>
            </a:avLst>
          </a:prstGeom>
          <a:solidFill>
            <a:schemeClr val="bg1"/>
          </a:solidFill>
          <a:ln/>
        </p:spPr>
      </p:sp>
      <p:sp>
        <p:nvSpPr>
          <p:cNvPr id="40" name="Services and tools chip text 1"/>
          <p:cNvSpPr txBox="1"/>
          <p:nvPr/>
        </p:nvSpPr>
        <p:spPr>
          <a:xfrm>
            <a:off x="8641080" y="2743200"/>
            <a:ext cx="2496312" cy="384048"/>
          </a:xfrm>
          <a:prstGeom prst="rect">
            <a:avLst/>
          </a:prstGeom>
          <a:noFill/>
          <a:ln/>
        </p:spPr>
        <p:txBody>
          <a:bodyPr wrap="square" lIns="0" tIns="0" rIns="0" bIns="0" rtlCol="0" anchor="ctr"/>
          <a:lstStyle/>
          <a:p>
            <a:pPr indent="0" marL="0">
              <a:buNone/>
            </a:pPr>
            <a:r>
              <a:rPr lang="en-US" sz="1500" dirty="0">
                <a:solidFill>
                  <a:schemeClr val="tx1"/>
                </a:solidFill>
              </a:rPr>
              <a:t>MongoDB Atlas</a:t>
            </a:r>
            <a:endParaRPr lang="en-US" sz="1500" dirty="0"/>
          </a:p>
        </p:txBody>
      </p:sp>
      <p:sp>
        <p:nvSpPr>
          <p:cNvPr id="41" name="Services and tools chip 2"/>
          <p:cNvSpPr/>
          <p:nvPr/>
        </p:nvSpPr>
        <p:spPr>
          <a:xfrm>
            <a:off x="8458200" y="3246120"/>
            <a:ext cx="2862072" cy="384048"/>
          </a:xfrm>
          <a:prstGeom prst="roundRect">
            <a:avLst>
              <a:gd name="adj" fmla="val 50000"/>
            </a:avLst>
          </a:prstGeom>
          <a:solidFill>
            <a:schemeClr val="bg1"/>
          </a:solidFill>
          <a:ln/>
        </p:spPr>
      </p:sp>
      <p:sp>
        <p:nvSpPr>
          <p:cNvPr id="42" name="Services and tools chip text 2"/>
          <p:cNvSpPr txBox="1"/>
          <p:nvPr/>
        </p:nvSpPr>
        <p:spPr>
          <a:xfrm>
            <a:off x="8641080" y="3246120"/>
            <a:ext cx="2496312" cy="384048"/>
          </a:xfrm>
          <a:prstGeom prst="rect">
            <a:avLst/>
          </a:prstGeom>
          <a:noFill/>
          <a:ln/>
        </p:spPr>
        <p:txBody>
          <a:bodyPr wrap="square" lIns="0" tIns="0" rIns="0" bIns="0" rtlCol="0" anchor="ctr"/>
          <a:lstStyle/>
          <a:p>
            <a:pPr indent="0" marL="0">
              <a:buNone/>
            </a:pPr>
            <a:r>
              <a:rPr lang="en-US" sz="1500" dirty="0">
                <a:solidFill>
                  <a:schemeClr val="tx1"/>
                </a:solidFill>
              </a:rPr>
              <a:t>Brevo</a:t>
            </a:r>
            <a:endParaRPr lang="en-US" sz="1500" dirty="0"/>
          </a:p>
        </p:txBody>
      </p:sp>
      <p:sp>
        <p:nvSpPr>
          <p:cNvPr id="43" name="Services and tools chip 3"/>
          <p:cNvSpPr/>
          <p:nvPr/>
        </p:nvSpPr>
        <p:spPr>
          <a:xfrm>
            <a:off x="8458200" y="3749040"/>
            <a:ext cx="2862072" cy="384048"/>
          </a:xfrm>
          <a:prstGeom prst="roundRect">
            <a:avLst>
              <a:gd name="adj" fmla="val 50000"/>
            </a:avLst>
          </a:prstGeom>
          <a:solidFill>
            <a:schemeClr val="bg1"/>
          </a:solidFill>
          <a:ln/>
        </p:spPr>
      </p:sp>
      <p:sp>
        <p:nvSpPr>
          <p:cNvPr id="44" name="Services and tools chip text 3"/>
          <p:cNvSpPr txBox="1"/>
          <p:nvPr/>
        </p:nvSpPr>
        <p:spPr>
          <a:xfrm>
            <a:off x="8641080" y="3749040"/>
            <a:ext cx="2496312" cy="384048"/>
          </a:xfrm>
          <a:prstGeom prst="rect">
            <a:avLst/>
          </a:prstGeom>
          <a:noFill/>
          <a:ln/>
        </p:spPr>
        <p:txBody>
          <a:bodyPr wrap="square" lIns="0" tIns="0" rIns="0" bIns="0" rtlCol="0" anchor="ctr"/>
          <a:lstStyle/>
          <a:p>
            <a:pPr indent="0" marL="0">
              <a:buNone/>
            </a:pPr>
            <a:r>
              <a:rPr lang="en-US" sz="1500" dirty="0">
                <a:solidFill>
                  <a:schemeClr val="tx1"/>
                </a:solidFill>
              </a:rPr>
              <a:t>Cloudinary</a:t>
            </a:r>
            <a:endParaRPr lang="en-US" sz="1500" dirty="0"/>
          </a:p>
        </p:txBody>
      </p:sp>
      <p:sp>
        <p:nvSpPr>
          <p:cNvPr id="45" name="Services and tools chip 4"/>
          <p:cNvSpPr/>
          <p:nvPr/>
        </p:nvSpPr>
        <p:spPr>
          <a:xfrm>
            <a:off x="8458200" y="4251960"/>
            <a:ext cx="2862072" cy="384048"/>
          </a:xfrm>
          <a:prstGeom prst="roundRect">
            <a:avLst>
              <a:gd name="adj" fmla="val 50000"/>
            </a:avLst>
          </a:prstGeom>
          <a:solidFill>
            <a:schemeClr val="bg1"/>
          </a:solidFill>
          <a:ln/>
        </p:spPr>
      </p:sp>
      <p:sp>
        <p:nvSpPr>
          <p:cNvPr id="46" name="Services and tools chip text 4"/>
          <p:cNvSpPr txBox="1"/>
          <p:nvPr/>
        </p:nvSpPr>
        <p:spPr>
          <a:xfrm>
            <a:off x="8641080" y="4251960"/>
            <a:ext cx="2496312" cy="384048"/>
          </a:xfrm>
          <a:prstGeom prst="rect">
            <a:avLst/>
          </a:prstGeom>
          <a:noFill/>
          <a:ln/>
        </p:spPr>
        <p:txBody>
          <a:bodyPr wrap="square" lIns="0" tIns="0" rIns="0" bIns="0" rtlCol="0" anchor="ctr"/>
          <a:lstStyle/>
          <a:p>
            <a:pPr indent="0" marL="0">
              <a:buNone/>
            </a:pPr>
            <a:r>
              <a:rPr lang="en-US" sz="1500" dirty="0">
                <a:solidFill>
                  <a:schemeClr val="tx1"/>
                </a:solidFill>
              </a:rPr>
              <a:t>Google OAuth</a:t>
            </a:r>
            <a:endParaRPr lang="en-US" sz="1500" dirty="0"/>
          </a:p>
        </p:txBody>
      </p:sp>
      <p:sp>
        <p:nvSpPr>
          <p:cNvPr id="47" name="Services and tools chip 5"/>
          <p:cNvSpPr/>
          <p:nvPr/>
        </p:nvSpPr>
        <p:spPr>
          <a:xfrm>
            <a:off x="8458200" y="4754880"/>
            <a:ext cx="2862072" cy="384048"/>
          </a:xfrm>
          <a:prstGeom prst="roundRect">
            <a:avLst>
              <a:gd name="adj" fmla="val 50000"/>
            </a:avLst>
          </a:prstGeom>
          <a:solidFill>
            <a:schemeClr val="bg1"/>
          </a:solidFill>
          <a:ln/>
        </p:spPr>
      </p:sp>
      <p:sp>
        <p:nvSpPr>
          <p:cNvPr id="48" name="Services and tools chip text 5"/>
          <p:cNvSpPr txBox="1"/>
          <p:nvPr/>
        </p:nvSpPr>
        <p:spPr>
          <a:xfrm>
            <a:off x="8641080" y="4754880"/>
            <a:ext cx="2496312" cy="384048"/>
          </a:xfrm>
          <a:prstGeom prst="rect">
            <a:avLst/>
          </a:prstGeom>
          <a:noFill/>
          <a:ln/>
        </p:spPr>
        <p:txBody>
          <a:bodyPr wrap="square" lIns="0" tIns="0" rIns="0" bIns="0" rtlCol="0" anchor="ctr"/>
          <a:lstStyle/>
          <a:p>
            <a:pPr indent="0" marL="0">
              <a:buNone/>
            </a:pPr>
            <a:r>
              <a:rPr lang="en-US" sz="1500" dirty="0">
                <a:solidFill>
                  <a:schemeClr val="tx1"/>
                </a:solidFill>
              </a:rPr>
              <a:t>Vercel</a:t>
            </a:r>
            <a:endParaRPr lang="en-US" sz="1500" dirty="0"/>
          </a:p>
        </p:txBody>
      </p:sp>
      <p:sp>
        <p:nvSpPr>
          <p:cNvPr id="49" name="Services and tools chip 6"/>
          <p:cNvSpPr/>
          <p:nvPr/>
        </p:nvSpPr>
        <p:spPr>
          <a:xfrm>
            <a:off x="8458200" y="5257800"/>
            <a:ext cx="2862072" cy="384048"/>
          </a:xfrm>
          <a:prstGeom prst="roundRect">
            <a:avLst>
              <a:gd name="adj" fmla="val 50000"/>
            </a:avLst>
          </a:prstGeom>
          <a:solidFill>
            <a:schemeClr val="bg1"/>
          </a:solidFill>
          <a:ln/>
        </p:spPr>
      </p:sp>
      <p:sp>
        <p:nvSpPr>
          <p:cNvPr id="50" name="Services and tools chip text 6"/>
          <p:cNvSpPr txBox="1"/>
          <p:nvPr/>
        </p:nvSpPr>
        <p:spPr>
          <a:xfrm>
            <a:off x="8641080" y="5257800"/>
            <a:ext cx="2496312" cy="384048"/>
          </a:xfrm>
          <a:prstGeom prst="rect">
            <a:avLst/>
          </a:prstGeom>
          <a:noFill/>
          <a:ln/>
        </p:spPr>
        <p:txBody>
          <a:bodyPr wrap="square" lIns="0" tIns="0" rIns="0" bIns="0" rtlCol="0" anchor="ctr"/>
          <a:lstStyle/>
          <a:p>
            <a:pPr indent="0" marL="0">
              <a:buNone/>
            </a:pPr>
            <a:r>
              <a:rPr lang="en-US" sz="1500" dirty="0">
                <a:solidFill>
                  <a:schemeClr val="tx1"/>
                </a:solidFill>
              </a:rPr>
              <a:t>Git and GitHub</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nchor="ctr"/>
          <a:lstStyle/>
          <a:p>
            <a:pPr indent="0" marL="0">
              <a:buNone/>
            </a:pPr>
            <a:r>
              <a:rPr lang="en-US" sz="3600" b="1" dirty="0">
                <a:solidFill>
                  <a:schemeClr val="tx1"/>
                </a:solidFill>
              </a:rPr>
              <a:t>Security is checked on the server</a:t>
            </a:r>
            <a:endParaRPr lang="en-US" sz="3600" dirty="0"/>
          </a:p>
        </p:txBody>
      </p:sp>
      <p:sp>
        <p:nvSpPr>
          <p:cNvPr id="3" name="Hashed passwords card"/>
          <p:cNvSpPr/>
          <p:nvPr/>
        </p:nvSpPr>
        <p:spPr>
          <a:xfrm>
            <a:off x="548640" y="1554480"/>
            <a:ext cx="5376672" cy="1965960"/>
          </a:xfrm>
          <a:prstGeom prst="roundRect">
            <a:avLst>
              <a:gd name="adj" fmla="val 5581"/>
            </a:avLst>
          </a:prstGeom>
          <a:solidFill>
            <a:schemeClr val="bg2"/>
          </a:solidFill>
          <a:ln/>
        </p:spPr>
      </p:sp>
      <p:sp>
        <p:nvSpPr>
          <p:cNvPr id="4" name="Hashed passwords circle"/>
          <p:cNvSpPr/>
          <p:nvPr/>
        </p:nvSpPr>
        <p:spPr>
          <a:xfrm>
            <a:off x="914400" y="1874520"/>
            <a:ext cx="822960" cy="822960"/>
          </a:xfrm>
          <a:prstGeom prst="ellipse">
            <a:avLst/>
          </a:prstGeom>
          <a:solidFill>
            <a:schemeClr val="accent1"/>
          </a:solidFill>
          <a:ln/>
        </p:spPr>
      </p:sp>
      <p:pic>
        <p:nvPicPr>
          <p:cNvPr id="5" name="Hashed passwords icon" descr="preencoded.png">    </p:cNvPr>
          <p:cNvPicPr>
            <a:picLocks noChangeAspect="1"/>
          </p:cNvPicPr>
          <p:nvPr/>
        </p:nvPicPr>
        <p:blipFill>
          <a:blip r:embed="rId1"/>
          <a:stretch>
            <a:fillRect/>
          </a:stretch>
        </p:blipFill>
        <p:spPr>
          <a:xfrm>
            <a:off x="1120140" y="2080260"/>
            <a:ext cx="411480" cy="411480"/>
          </a:xfrm>
          <a:prstGeom prst="rect">
            <a:avLst/>
          </a:prstGeom>
        </p:spPr>
      </p:pic>
      <p:sp>
        <p:nvSpPr>
          <p:cNvPr id="6" name="Hashed passwords heading"/>
          <p:cNvSpPr txBox="1"/>
          <p:nvPr/>
        </p:nvSpPr>
        <p:spPr>
          <a:xfrm>
            <a:off x="2011680" y="1874520"/>
            <a:ext cx="3657600" cy="502920"/>
          </a:xfrm>
          <a:prstGeom prst="rect">
            <a:avLst/>
          </a:prstGeom>
          <a:noFill/>
          <a:ln/>
        </p:spPr>
        <p:txBody>
          <a:bodyPr wrap="square" lIns="0" tIns="0" rIns="0" bIns="0" rtlCol="0" anchor="ctr"/>
          <a:lstStyle/>
          <a:p>
            <a:pPr indent="0" marL="0">
              <a:buNone/>
            </a:pPr>
            <a:r>
              <a:rPr lang="en-US" sz="2000" b="1" dirty="0">
                <a:solidFill>
                  <a:schemeClr val="tx1"/>
                </a:solidFill>
              </a:rPr>
              <a:t>Hashed passwords</a:t>
            </a:r>
            <a:endParaRPr lang="en-US" sz="2000" dirty="0"/>
          </a:p>
        </p:txBody>
      </p:sp>
      <p:sp>
        <p:nvSpPr>
          <p:cNvPr id="7" name="Hashed passwords text"/>
          <p:cNvSpPr txBox="1"/>
          <p:nvPr/>
        </p:nvSpPr>
        <p:spPr>
          <a:xfrm>
            <a:off x="2011680" y="2423160"/>
            <a:ext cx="3657600" cy="868680"/>
          </a:xfrm>
          <a:prstGeom prst="rect">
            <a:avLst/>
          </a:prstGeom>
          <a:noFill/>
          <a:ln/>
        </p:spPr>
        <p:txBody>
          <a:bodyPr wrap="square" lIns="0" tIns="0" rIns="0" bIns="0" rtlCol="0" anchor="t"/>
          <a:lstStyle/>
          <a:p>
            <a:pPr indent="0" marL="0">
              <a:buNone/>
            </a:pPr>
            <a:r>
              <a:rPr lang="en-US" sz="1600" dirty="0">
                <a:solidFill>
                  <a:schemeClr val="tx2"/>
                </a:solidFill>
              </a:rPr>
              <a:t>Stored only as bcrypt hashes, never the real password</a:t>
            </a:r>
            <a:endParaRPr lang="en-US" sz="1600" dirty="0"/>
          </a:p>
        </p:txBody>
      </p:sp>
      <p:sp>
        <p:nvSpPr>
          <p:cNvPr id="8" name="Email verification card"/>
          <p:cNvSpPr/>
          <p:nvPr/>
        </p:nvSpPr>
        <p:spPr>
          <a:xfrm>
            <a:off x="6263640" y="1554480"/>
            <a:ext cx="5376672" cy="1965960"/>
          </a:xfrm>
          <a:prstGeom prst="roundRect">
            <a:avLst>
              <a:gd name="adj" fmla="val 5581"/>
            </a:avLst>
          </a:prstGeom>
          <a:solidFill>
            <a:schemeClr val="bg2"/>
          </a:solidFill>
          <a:ln/>
        </p:spPr>
      </p:sp>
      <p:sp>
        <p:nvSpPr>
          <p:cNvPr id="9" name="Email verification circle"/>
          <p:cNvSpPr/>
          <p:nvPr/>
        </p:nvSpPr>
        <p:spPr>
          <a:xfrm>
            <a:off x="6629400" y="1874520"/>
            <a:ext cx="822960" cy="822960"/>
          </a:xfrm>
          <a:prstGeom prst="ellipse">
            <a:avLst/>
          </a:prstGeom>
          <a:solidFill>
            <a:schemeClr val="accent1"/>
          </a:solidFill>
          <a:ln/>
        </p:spPr>
      </p:sp>
      <p:pic>
        <p:nvPicPr>
          <p:cNvPr id="10" name="Email verification icon" descr="preencoded.png">    </p:cNvPr>
          <p:cNvPicPr>
            <a:picLocks noChangeAspect="1"/>
          </p:cNvPicPr>
          <p:nvPr/>
        </p:nvPicPr>
        <p:blipFill>
          <a:blip r:embed="rId2"/>
          <a:stretch>
            <a:fillRect/>
          </a:stretch>
        </p:blipFill>
        <p:spPr>
          <a:xfrm>
            <a:off x="6835140" y="2080260"/>
            <a:ext cx="411480" cy="411480"/>
          </a:xfrm>
          <a:prstGeom prst="rect">
            <a:avLst/>
          </a:prstGeom>
        </p:spPr>
      </p:pic>
      <p:sp>
        <p:nvSpPr>
          <p:cNvPr id="11" name="Email verification heading"/>
          <p:cNvSpPr txBox="1"/>
          <p:nvPr/>
        </p:nvSpPr>
        <p:spPr>
          <a:xfrm>
            <a:off x="7726680" y="1874520"/>
            <a:ext cx="3657600" cy="502920"/>
          </a:xfrm>
          <a:prstGeom prst="rect">
            <a:avLst/>
          </a:prstGeom>
          <a:noFill/>
          <a:ln/>
        </p:spPr>
        <p:txBody>
          <a:bodyPr wrap="square" lIns="0" tIns="0" rIns="0" bIns="0" rtlCol="0" anchor="ctr"/>
          <a:lstStyle/>
          <a:p>
            <a:pPr indent="0" marL="0">
              <a:buNone/>
            </a:pPr>
            <a:r>
              <a:rPr lang="en-US" sz="2000" b="1" dirty="0">
                <a:solidFill>
                  <a:schemeClr val="tx1"/>
                </a:solidFill>
              </a:rPr>
              <a:t>Email verification</a:t>
            </a:r>
            <a:endParaRPr lang="en-US" sz="2000" dirty="0"/>
          </a:p>
        </p:txBody>
      </p:sp>
      <p:sp>
        <p:nvSpPr>
          <p:cNvPr id="12" name="Email verification text"/>
          <p:cNvSpPr txBox="1"/>
          <p:nvPr/>
        </p:nvSpPr>
        <p:spPr>
          <a:xfrm>
            <a:off x="7726680" y="2423160"/>
            <a:ext cx="3657600" cy="868680"/>
          </a:xfrm>
          <a:prstGeom prst="rect">
            <a:avLst/>
          </a:prstGeom>
          <a:noFill/>
          <a:ln/>
        </p:spPr>
        <p:txBody>
          <a:bodyPr wrap="square" lIns="0" tIns="0" rIns="0" bIns="0" rtlCol="0" anchor="t"/>
          <a:lstStyle/>
          <a:p>
            <a:pPr indent="0" marL="0">
              <a:buNone/>
            </a:pPr>
            <a:r>
              <a:rPr lang="en-US" sz="1600" dirty="0">
                <a:solidFill>
                  <a:schemeClr val="tx2"/>
                </a:solidFill>
              </a:rPr>
              <a:t>A 6-digit code, valid for 10 minutes</a:t>
            </a:r>
            <a:endParaRPr lang="en-US" sz="1600" dirty="0"/>
          </a:p>
        </p:txBody>
      </p:sp>
      <p:sp>
        <p:nvSpPr>
          <p:cNvPr id="13" name="Login tokens card"/>
          <p:cNvSpPr/>
          <p:nvPr/>
        </p:nvSpPr>
        <p:spPr>
          <a:xfrm>
            <a:off x="548640" y="3794760"/>
            <a:ext cx="5376672" cy="1965960"/>
          </a:xfrm>
          <a:prstGeom prst="roundRect">
            <a:avLst>
              <a:gd name="adj" fmla="val 5581"/>
            </a:avLst>
          </a:prstGeom>
          <a:solidFill>
            <a:schemeClr val="bg2"/>
          </a:solidFill>
          <a:ln/>
        </p:spPr>
      </p:sp>
      <p:sp>
        <p:nvSpPr>
          <p:cNvPr id="14" name="Login tokens circle"/>
          <p:cNvSpPr/>
          <p:nvPr/>
        </p:nvSpPr>
        <p:spPr>
          <a:xfrm>
            <a:off x="914400" y="4114800"/>
            <a:ext cx="822960" cy="822960"/>
          </a:xfrm>
          <a:prstGeom prst="ellipse">
            <a:avLst/>
          </a:prstGeom>
          <a:solidFill>
            <a:schemeClr val="accent1"/>
          </a:solidFill>
          <a:ln/>
        </p:spPr>
      </p:sp>
      <p:pic>
        <p:nvPicPr>
          <p:cNvPr id="15" name="Login tokens icon" descr="preencoded.png">    </p:cNvPr>
          <p:cNvPicPr>
            <a:picLocks noChangeAspect="1"/>
          </p:cNvPicPr>
          <p:nvPr/>
        </p:nvPicPr>
        <p:blipFill>
          <a:blip r:embed="rId3"/>
          <a:stretch>
            <a:fillRect/>
          </a:stretch>
        </p:blipFill>
        <p:spPr>
          <a:xfrm>
            <a:off x="1120140" y="4320540"/>
            <a:ext cx="411480" cy="411480"/>
          </a:xfrm>
          <a:prstGeom prst="rect">
            <a:avLst/>
          </a:prstGeom>
        </p:spPr>
      </p:pic>
      <p:sp>
        <p:nvSpPr>
          <p:cNvPr id="16" name="Login tokens heading"/>
          <p:cNvSpPr txBox="1"/>
          <p:nvPr/>
        </p:nvSpPr>
        <p:spPr>
          <a:xfrm>
            <a:off x="2011680" y="4114800"/>
            <a:ext cx="3657600" cy="502920"/>
          </a:xfrm>
          <a:prstGeom prst="rect">
            <a:avLst/>
          </a:prstGeom>
          <a:noFill/>
          <a:ln/>
        </p:spPr>
        <p:txBody>
          <a:bodyPr wrap="square" lIns="0" tIns="0" rIns="0" bIns="0" rtlCol="0" anchor="ctr"/>
          <a:lstStyle/>
          <a:p>
            <a:pPr indent="0" marL="0">
              <a:buNone/>
            </a:pPr>
            <a:r>
              <a:rPr lang="en-US" sz="2000" b="1" dirty="0">
                <a:solidFill>
                  <a:schemeClr val="tx1"/>
                </a:solidFill>
              </a:rPr>
              <a:t>Login tokens</a:t>
            </a:r>
            <a:endParaRPr lang="en-US" sz="2000" dirty="0"/>
          </a:p>
        </p:txBody>
      </p:sp>
      <p:sp>
        <p:nvSpPr>
          <p:cNvPr id="17" name="Login tokens text"/>
          <p:cNvSpPr txBox="1"/>
          <p:nvPr/>
        </p:nvSpPr>
        <p:spPr>
          <a:xfrm>
            <a:off x="2011680" y="4663440"/>
            <a:ext cx="3657600" cy="868680"/>
          </a:xfrm>
          <a:prstGeom prst="rect">
            <a:avLst/>
          </a:prstGeom>
          <a:noFill/>
          <a:ln/>
        </p:spPr>
        <p:txBody>
          <a:bodyPr wrap="square" lIns="0" tIns="0" rIns="0" bIns="0" rtlCol="0" anchor="t"/>
          <a:lstStyle/>
          <a:p>
            <a:pPr indent="0" marL="0">
              <a:buNone/>
            </a:pPr>
            <a:r>
              <a:rPr lang="en-US" sz="1600" dirty="0">
                <a:solidFill>
                  <a:schemeClr val="tx2"/>
                </a:solidFill>
              </a:rPr>
              <a:t>A signed JWT with the user's id and role, valid 7 days</a:t>
            </a:r>
            <a:endParaRPr lang="en-US" sz="1600" dirty="0"/>
          </a:p>
        </p:txBody>
      </p:sp>
      <p:sp>
        <p:nvSpPr>
          <p:cNvPr id="18" name="Role checks card"/>
          <p:cNvSpPr/>
          <p:nvPr/>
        </p:nvSpPr>
        <p:spPr>
          <a:xfrm>
            <a:off x="6263640" y="3794760"/>
            <a:ext cx="5376672" cy="1965960"/>
          </a:xfrm>
          <a:prstGeom prst="roundRect">
            <a:avLst>
              <a:gd name="adj" fmla="val 5581"/>
            </a:avLst>
          </a:prstGeom>
          <a:solidFill>
            <a:schemeClr val="bg2"/>
          </a:solidFill>
          <a:ln/>
        </p:spPr>
      </p:sp>
      <p:sp>
        <p:nvSpPr>
          <p:cNvPr id="19" name="Role checks circle"/>
          <p:cNvSpPr/>
          <p:nvPr/>
        </p:nvSpPr>
        <p:spPr>
          <a:xfrm>
            <a:off x="6629400" y="4114800"/>
            <a:ext cx="822960" cy="822960"/>
          </a:xfrm>
          <a:prstGeom prst="ellipse">
            <a:avLst/>
          </a:prstGeom>
          <a:solidFill>
            <a:schemeClr val="accent1"/>
          </a:solidFill>
          <a:ln/>
        </p:spPr>
      </p:sp>
      <p:pic>
        <p:nvPicPr>
          <p:cNvPr id="20" name="Role checks icon" descr="preencoded.png">    </p:cNvPr>
          <p:cNvPicPr>
            <a:picLocks noChangeAspect="1"/>
          </p:cNvPicPr>
          <p:nvPr/>
        </p:nvPicPr>
        <p:blipFill>
          <a:blip r:embed="rId4"/>
          <a:stretch>
            <a:fillRect/>
          </a:stretch>
        </p:blipFill>
        <p:spPr>
          <a:xfrm>
            <a:off x="6835140" y="4320540"/>
            <a:ext cx="411480" cy="411480"/>
          </a:xfrm>
          <a:prstGeom prst="rect">
            <a:avLst/>
          </a:prstGeom>
        </p:spPr>
      </p:pic>
      <p:sp>
        <p:nvSpPr>
          <p:cNvPr id="21" name="Role checks heading"/>
          <p:cNvSpPr txBox="1"/>
          <p:nvPr/>
        </p:nvSpPr>
        <p:spPr>
          <a:xfrm>
            <a:off x="7726680" y="4114800"/>
            <a:ext cx="3657600" cy="502920"/>
          </a:xfrm>
          <a:prstGeom prst="rect">
            <a:avLst/>
          </a:prstGeom>
          <a:noFill/>
          <a:ln/>
        </p:spPr>
        <p:txBody>
          <a:bodyPr wrap="square" lIns="0" tIns="0" rIns="0" bIns="0" rtlCol="0" anchor="ctr"/>
          <a:lstStyle/>
          <a:p>
            <a:pPr indent="0" marL="0">
              <a:buNone/>
            </a:pPr>
            <a:r>
              <a:rPr lang="en-US" sz="2000" b="1" dirty="0">
                <a:solidFill>
                  <a:schemeClr val="tx1"/>
                </a:solidFill>
              </a:rPr>
              <a:t>Role checks</a:t>
            </a:r>
            <a:endParaRPr lang="en-US" sz="2000" dirty="0"/>
          </a:p>
        </p:txBody>
      </p:sp>
      <p:sp>
        <p:nvSpPr>
          <p:cNvPr id="22" name="Role checks text"/>
          <p:cNvSpPr txBox="1"/>
          <p:nvPr/>
        </p:nvSpPr>
        <p:spPr>
          <a:xfrm>
            <a:off x="7726680" y="4663440"/>
            <a:ext cx="3657600" cy="868680"/>
          </a:xfrm>
          <a:prstGeom prst="rect">
            <a:avLst/>
          </a:prstGeom>
          <a:noFill/>
          <a:ln/>
        </p:spPr>
        <p:txBody>
          <a:bodyPr wrap="square" lIns="0" tIns="0" rIns="0" bIns="0" rtlCol="0" anchor="t"/>
          <a:lstStyle/>
          <a:p>
            <a:pPr indent="0" marL="0">
              <a:buNone/>
            </a:pPr>
            <a:r>
              <a:rPr lang="en-US" sz="1600" dirty="0">
                <a:solidFill>
                  <a:schemeClr val="tx2"/>
                </a:solidFill>
              </a:rPr>
              <a:t>Admin endpoints reject candidates, even with a valid token</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nchor="ctr"/>
          <a:lstStyle/>
          <a:p>
            <a:pPr indent="0" marL="0">
              <a:buNone/>
            </a:pPr>
            <a:r>
              <a:rPr lang="en-US" sz="3600" b="1" dirty="0">
                <a:solidFill>
                  <a:schemeClr val="tx1"/>
                </a:solidFill>
              </a:rPr>
              <a:t>Live demo: one application, start to finish</a:t>
            </a:r>
            <a:endParaRPr lang="en-US" sz="3600" dirty="0"/>
          </a:p>
        </p:txBody>
      </p:sp>
      <p:sp>
        <p:nvSpPr>
          <p:cNvPr id="3" name="Search card"/>
          <p:cNvSpPr/>
          <p:nvPr/>
        </p:nvSpPr>
        <p:spPr>
          <a:xfrm>
            <a:off x="548640" y="1828800"/>
            <a:ext cx="2011680" cy="3017520"/>
          </a:xfrm>
          <a:prstGeom prst="roundRect">
            <a:avLst>
              <a:gd name="adj" fmla="val 5455"/>
            </a:avLst>
          </a:prstGeom>
          <a:solidFill>
            <a:schemeClr val="bg2"/>
          </a:solidFill>
          <a:ln/>
        </p:spPr>
      </p:sp>
      <p:sp>
        <p:nvSpPr>
          <p:cNvPr id="4" name="Search circle"/>
          <p:cNvSpPr/>
          <p:nvPr/>
        </p:nvSpPr>
        <p:spPr>
          <a:xfrm>
            <a:off x="1097280" y="2194560"/>
            <a:ext cx="914400" cy="914400"/>
          </a:xfrm>
          <a:prstGeom prst="ellipse">
            <a:avLst/>
          </a:prstGeom>
          <a:solidFill>
            <a:schemeClr val="accent1"/>
          </a:solidFill>
          <a:ln/>
        </p:spPr>
      </p:sp>
      <p:pic>
        <p:nvPicPr>
          <p:cNvPr id="5" name="Search icon" descr="preencoded.png">    </p:cNvPr>
          <p:cNvPicPr>
            <a:picLocks noChangeAspect="1"/>
          </p:cNvPicPr>
          <p:nvPr/>
        </p:nvPicPr>
        <p:blipFill>
          <a:blip r:embed="rId1"/>
          <a:stretch>
            <a:fillRect/>
          </a:stretch>
        </p:blipFill>
        <p:spPr>
          <a:xfrm>
            <a:off x="1325880" y="2423160"/>
            <a:ext cx="457200" cy="457200"/>
          </a:xfrm>
          <a:prstGeom prst="rect">
            <a:avLst/>
          </a:prstGeom>
        </p:spPr>
      </p:pic>
      <p:sp>
        <p:nvSpPr>
          <p:cNvPr id="6" name="Search number"/>
          <p:cNvSpPr txBox="1"/>
          <p:nvPr/>
        </p:nvSpPr>
        <p:spPr>
          <a:xfrm>
            <a:off x="731520" y="1920240"/>
            <a:ext cx="365760" cy="365760"/>
          </a:xfrm>
          <a:prstGeom prst="rect">
            <a:avLst/>
          </a:prstGeom>
          <a:noFill/>
          <a:ln/>
        </p:spPr>
        <p:txBody>
          <a:bodyPr wrap="square" lIns="0" tIns="0" rIns="0" bIns="0" rtlCol="0" anchor="ctr"/>
          <a:lstStyle/>
          <a:p>
            <a:pPr indent="0" marL="0">
              <a:buNone/>
            </a:pPr>
            <a:r>
              <a:rPr lang="en-US" sz="1400" b="1" dirty="0">
                <a:solidFill>
                  <a:schemeClr val="accent1"/>
                </a:solidFill>
              </a:rPr>
              <a:t>1</a:t>
            </a:r>
            <a:endParaRPr lang="en-US" sz="1400" dirty="0"/>
          </a:p>
        </p:txBody>
      </p:sp>
      <p:sp>
        <p:nvSpPr>
          <p:cNvPr id="7" name="Search heading"/>
          <p:cNvSpPr txBox="1"/>
          <p:nvPr/>
        </p:nvSpPr>
        <p:spPr>
          <a:xfrm>
            <a:off x="685800" y="3291840"/>
            <a:ext cx="1737360" cy="457200"/>
          </a:xfrm>
          <a:prstGeom prst="rect">
            <a:avLst/>
          </a:prstGeom>
          <a:noFill/>
          <a:ln/>
        </p:spPr>
        <p:txBody>
          <a:bodyPr wrap="square" lIns="0" tIns="0" rIns="0" bIns="0" rtlCol="0" anchor="ctr"/>
          <a:lstStyle/>
          <a:p>
            <a:pPr algn="ctr" indent="0" marL="0">
              <a:buNone/>
            </a:pPr>
            <a:r>
              <a:rPr lang="en-US" sz="2000" b="1" dirty="0">
                <a:solidFill>
                  <a:schemeClr val="tx1"/>
                </a:solidFill>
              </a:rPr>
              <a:t>Search</a:t>
            </a:r>
            <a:endParaRPr lang="en-US" sz="2000" dirty="0"/>
          </a:p>
        </p:txBody>
      </p:sp>
      <p:sp>
        <p:nvSpPr>
          <p:cNvPr id="8" name="Search text"/>
          <p:cNvSpPr txBox="1"/>
          <p:nvPr/>
        </p:nvSpPr>
        <p:spPr>
          <a:xfrm>
            <a:off x="731520" y="3840480"/>
            <a:ext cx="1645920" cy="1188720"/>
          </a:xfrm>
          <a:prstGeom prst="rect">
            <a:avLst/>
          </a:prstGeom>
          <a:noFill/>
          <a:ln/>
        </p:spPr>
        <p:txBody>
          <a:bodyPr wrap="square" lIns="0" tIns="0" rIns="0" bIns="0" rtlCol="0" anchor="t"/>
          <a:lstStyle/>
          <a:p>
            <a:pPr algn="ctr" indent="0" marL="0">
              <a:buNone/>
            </a:pPr>
            <a:r>
              <a:rPr lang="en-US" sz="1500" dirty="0">
                <a:solidFill>
                  <a:schemeClr val="tx2"/>
                </a:solidFill>
              </a:rPr>
              <a:t>Find a designer role, filter by Remote</a:t>
            </a:r>
            <a:endParaRPr lang="en-US" sz="1500" dirty="0"/>
          </a:p>
        </p:txBody>
      </p:sp>
      <p:sp>
        <p:nvSpPr>
          <p:cNvPr id="9" name="step arrow 1"/>
          <p:cNvSpPr/>
          <p:nvPr/>
        </p:nvSpPr>
        <p:spPr>
          <a:xfrm>
            <a:off x="2587752" y="3566160"/>
            <a:ext cx="201168" cy="0"/>
          </a:xfrm>
          <a:prstGeom prst="line">
            <a:avLst/>
          </a:prstGeom>
          <a:noFill/>
          <a:ln w="25400">
            <a:solidFill>
              <a:schemeClr val="accent1"/>
            </a:solidFill>
            <a:prstDash val="solid"/>
            <a:tailEnd type="triangle"/>
          </a:ln>
        </p:spPr>
      </p:sp>
      <p:sp>
        <p:nvSpPr>
          <p:cNvPr id="10" name="Apply card"/>
          <p:cNvSpPr/>
          <p:nvPr/>
        </p:nvSpPr>
        <p:spPr>
          <a:xfrm>
            <a:off x="2816352" y="1828800"/>
            <a:ext cx="2011680" cy="3017520"/>
          </a:xfrm>
          <a:prstGeom prst="roundRect">
            <a:avLst>
              <a:gd name="adj" fmla="val 5455"/>
            </a:avLst>
          </a:prstGeom>
          <a:solidFill>
            <a:schemeClr val="bg2"/>
          </a:solidFill>
          <a:ln/>
        </p:spPr>
      </p:sp>
      <p:sp>
        <p:nvSpPr>
          <p:cNvPr id="11" name="Apply circle"/>
          <p:cNvSpPr/>
          <p:nvPr/>
        </p:nvSpPr>
        <p:spPr>
          <a:xfrm>
            <a:off x="3364992" y="2194560"/>
            <a:ext cx="914400" cy="914400"/>
          </a:xfrm>
          <a:prstGeom prst="ellipse">
            <a:avLst/>
          </a:prstGeom>
          <a:solidFill>
            <a:schemeClr val="accent1"/>
          </a:solidFill>
          <a:ln/>
        </p:spPr>
      </p:sp>
      <p:pic>
        <p:nvPicPr>
          <p:cNvPr id="12" name="Apply icon" descr="preencoded.png">    </p:cNvPr>
          <p:cNvPicPr>
            <a:picLocks noChangeAspect="1"/>
          </p:cNvPicPr>
          <p:nvPr/>
        </p:nvPicPr>
        <p:blipFill>
          <a:blip r:embed="rId2"/>
          <a:stretch>
            <a:fillRect/>
          </a:stretch>
        </p:blipFill>
        <p:spPr>
          <a:xfrm>
            <a:off x="3593592" y="2423160"/>
            <a:ext cx="457200" cy="457200"/>
          </a:xfrm>
          <a:prstGeom prst="rect">
            <a:avLst/>
          </a:prstGeom>
        </p:spPr>
      </p:pic>
      <p:sp>
        <p:nvSpPr>
          <p:cNvPr id="13" name="Apply number"/>
          <p:cNvSpPr txBox="1"/>
          <p:nvPr/>
        </p:nvSpPr>
        <p:spPr>
          <a:xfrm>
            <a:off x="2999232" y="1920240"/>
            <a:ext cx="365760" cy="365760"/>
          </a:xfrm>
          <a:prstGeom prst="rect">
            <a:avLst/>
          </a:prstGeom>
          <a:noFill/>
          <a:ln/>
        </p:spPr>
        <p:txBody>
          <a:bodyPr wrap="square" lIns="0" tIns="0" rIns="0" bIns="0" rtlCol="0" anchor="ctr"/>
          <a:lstStyle/>
          <a:p>
            <a:pPr indent="0" marL="0">
              <a:buNone/>
            </a:pPr>
            <a:r>
              <a:rPr lang="en-US" sz="1400" b="1" dirty="0">
                <a:solidFill>
                  <a:schemeClr val="accent1"/>
                </a:solidFill>
              </a:rPr>
              <a:t>2</a:t>
            </a:r>
            <a:endParaRPr lang="en-US" sz="1400" dirty="0"/>
          </a:p>
        </p:txBody>
      </p:sp>
      <p:sp>
        <p:nvSpPr>
          <p:cNvPr id="14" name="Apply heading"/>
          <p:cNvSpPr txBox="1"/>
          <p:nvPr/>
        </p:nvSpPr>
        <p:spPr>
          <a:xfrm>
            <a:off x="2953512" y="3291840"/>
            <a:ext cx="1737360" cy="457200"/>
          </a:xfrm>
          <a:prstGeom prst="rect">
            <a:avLst/>
          </a:prstGeom>
          <a:noFill/>
          <a:ln/>
        </p:spPr>
        <p:txBody>
          <a:bodyPr wrap="square" lIns="0" tIns="0" rIns="0" bIns="0" rtlCol="0" anchor="ctr"/>
          <a:lstStyle/>
          <a:p>
            <a:pPr algn="ctr" indent="0" marL="0">
              <a:buNone/>
            </a:pPr>
            <a:r>
              <a:rPr lang="en-US" sz="2000" b="1" dirty="0">
                <a:solidFill>
                  <a:schemeClr val="tx1"/>
                </a:solidFill>
              </a:rPr>
              <a:t>Apply</a:t>
            </a:r>
            <a:endParaRPr lang="en-US" sz="2000" dirty="0"/>
          </a:p>
        </p:txBody>
      </p:sp>
      <p:sp>
        <p:nvSpPr>
          <p:cNvPr id="15" name="Apply text"/>
          <p:cNvSpPr txBox="1"/>
          <p:nvPr/>
        </p:nvSpPr>
        <p:spPr>
          <a:xfrm>
            <a:off x="2999232" y="3840480"/>
            <a:ext cx="1645920" cy="1188720"/>
          </a:xfrm>
          <a:prstGeom prst="rect">
            <a:avLst/>
          </a:prstGeom>
          <a:noFill/>
          <a:ln/>
        </p:spPr>
        <p:txBody>
          <a:bodyPr wrap="square" lIns="0" tIns="0" rIns="0" bIns="0" rtlCol="0" anchor="t"/>
          <a:lstStyle/>
          <a:p>
            <a:pPr algn="ctr" indent="0" marL="0">
              <a:buNone/>
            </a:pPr>
            <a:r>
              <a:rPr lang="en-US" sz="1500" dirty="0">
                <a:solidFill>
                  <a:schemeClr val="tx2"/>
                </a:solidFill>
              </a:rPr>
              <a:t>Complete the four apply steps</a:t>
            </a:r>
            <a:endParaRPr lang="en-US" sz="1500" dirty="0"/>
          </a:p>
        </p:txBody>
      </p:sp>
      <p:sp>
        <p:nvSpPr>
          <p:cNvPr id="16" name="step arrow 2"/>
          <p:cNvSpPr/>
          <p:nvPr/>
        </p:nvSpPr>
        <p:spPr>
          <a:xfrm>
            <a:off x="4855464" y="3566160"/>
            <a:ext cx="201168" cy="0"/>
          </a:xfrm>
          <a:prstGeom prst="line">
            <a:avLst/>
          </a:prstGeom>
          <a:noFill/>
          <a:ln w="25400">
            <a:solidFill>
              <a:schemeClr val="accent1"/>
            </a:solidFill>
            <a:prstDash val="solid"/>
            <a:tailEnd type="triangle"/>
          </a:ln>
        </p:spPr>
      </p:sp>
      <p:sp>
        <p:nvSpPr>
          <p:cNvPr id="17" name="Track card"/>
          <p:cNvSpPr/>
          <p:nvPr/>
        </p:nvSpPr>
        <p:spPr>
          <a:xfrm>
            <a:off x="5084064" y="1828800"/>
            <a:ext cx="2011680" cy="3017520"/>
          </a:xfrm>
          <a:prstGeom prst="roundRect">
            <a:avLst>
              <a:gd name="adj" fmla="val 5455"/>
            </a:avLst>
          </a:prstGeom>
          <a:solidFill>
            <a:schemeClr val="bg2"/>
          </a:solidFill>
          <a:ln/>
        </p:spPr>
      </p:sp>
      <p:sp>
        <p:nvSpPr>
          <p:cNvPr id="18" name="Track circle"/>
          <p:cNvSpPr/>
          <p:nvPr/>
        </p:nvSpPr>
        <p:spPr>
          <a:xfrm>
            <a:off x="5632704" y="2194560"/>
            <a:ext cx="914400" cy="914400"/>
          </a:xfrm>
          <a:prstGeom prst="ellipse">
            <a:avLst/>
          </a:prstGeom>
          <a:solidFill>
            <a:schemeClr val="accent1"/>
          </a:solidFill>
          <a:ln/>
        </p:spPr>
      </p:sp>
      <p:pic>
        <p:nvPicPr>
          <p:cNvPr id="19" name="Track icon" descr="preencoded.png">    </p:cNvPr>
          <p:cNvPicPr>
            <a:picLocks noChangeAspect="1"/>
          </p:cNvPicPr>
          <p:nvPr/>
        </p:nvPicPr>
        <p:blipFill>
          <a:blip r:embed="rId3"/>
          <a:stretch>
            <a:fillRect/>
          </a:stretch>
        </p:blipFill>
        <p:spPr>
          <a:xfrm>
            <a:off x="5861304" y="2423160"/>
            <a:ext cx="457200" cy="457200"/>
          </a:xfrm>
          <a:prstGeom prst="rect">
            <a:avLst/>
          </a:prstGeom>
        </p:spPr>
      </p:pic>
      <p:sp>
        <p:nvSpPr>
          <p:cNvPr id="20" name="Track number"/>
          <p:cNvSpPr txBox="1"/>
          <p:nvPr/>
        </p:nvSpPr>
        <p:spPr>
          <a:xfrm>
            <a:off x="5266944" y="1920240"/>
            <a:ext cx="365760" cy="365760"/>
          </a:xfrm>
          <a:prstGeom prst="rect">
            <a:avLst/>
          </a:prstGeom>
          <a:noFill/>
          <a:ln/>
        </p:spPr>
        <p:txBody>
          <a:bodyPr wrap="square" lIns="0" tIns="0" rIns="0" bIns="0" rtlCol="0" anchor="ctr"/>
          <a:lstStyle/>
          <a:p>
            <a:pPr indent="0" marL="0">
              <a:buNone/>
            </a:pPr>
            <a:r>
              <a:rPr lang="en-US" sz="1400" b="1" dirty="0">
                <a:solidFill>
                  <a:schemeClr val="accent1"/>
                </a:solidFill>
              </a:rPr>
              <a:t>3</a:t>
            </a:r>
            <a:endParaRPr lang="en-US" sz="1400" dirty="0"/>
          </a:p>
        </p:txBody>
      </p:sp>
      <p:sp>
        <p:nvSpPr>
          <p:cNvPr id="21" name="Track heading"/>
          <p:cNvSpPr txBox="1"/>
          <p:nvPr/>
        </p:nvSpPr>
        <p:spPr>
          <a:xfrm>
            <a:off x="5221224" y="3291840"/>
            <a:ext cx="1737360" cy="457200"/>
          </a:xfrm>
          <a:prstGeom prst="rect">
            <a:avLst/>
          </a:prstGeom>
          <a:noFill/>
          <a:ln/>
        </p:spPr>
        <p:txBody>
          <a:bodyPr wrap="square" lIns="0" tIns="0" rIns="0" bIns="0" rtlCol="0" anchor="ctr"/>
          <a:lstStyle/>
          <a:p>
            <a:pPr algn="ctr" indent="0" marL="0">
              <a:buNone/>
            </a:pPr>
            <a:r>
              <a:rPr lang="en-US" sz="2000" b="1" dirty="0">
                <a:solidFill>
                  <a:schemeClr val="tx1"/>
                </a:solidFill>
              </a:rPr>
              <a:t>Track</a:t>
            </a:r>
            <a:endParaRPr lang="en-US" sz="2000" dirty="0"/>
          </a:p>
        </p:txBody>
      </p:sp>
      <p:sp>
        <p:nvSpPr>
          <p:cNvPr id="22" name="Track text"/>
          <p:cNvSpPr txBox="1"/>
          <p:nvPr/>
        </p:nvSpPr>
        <p:spPr>
          <a:xfrm>
            <a:off x="5266944" y="3840480"/>
            <a:ext cx="1645920" cy="1188720"/>
          </a:xfrm>
          <a:prstGeom prst="rect">
            <a:avLst/>
          </a:prstGeom>
          <a:noFill/>
          <a:ln/>
        </p:spPr>
        <p:txBody>
          <a:bodyPr wrap="square" lIns="0" tIns="0" rIns="0" bIns="0" rtlCol="0" anchor="t"/>
          <a:lstStyle/>
          <a:p>
            <a:pPr algn="ctr" indent="0" marL="0">
              <a:buNone/>
            </a:pPr>
            <a:r>
              <a:rPr lang="en-US" sz="1500" dirty="0">
                <a:solidFill>
                  <a:schemeClr val="tx2"/>
                </a:solidFill>
              </a:rPr>
              <a:t>See it under My Applications</a:t>
            </a:r>
            <a:endParaRPr lang="en-US" sz="1500" dirty="0"/>
          </a:p>
        </p:txBody>
      </p:sp>
      <p:sp>
        <p:nvSpPr>
          <p:cNvPr id="23" name="step arrow 3"/>
          <p:cNvSpPr/>
          <p:nvPr/>
        </p:nvSpPr>
        <p:spPr>
          <a:xfrm>
            <a:off x="7123176" y="3566160"/>
            <a:ext cx="201168" cy="0"/>
          </a:xfrm>
          <a:prstGeom prst="line">
            <a:avLst/>
          </a:prstGeom>
          <a:noFill/>
          <a:ln w="25400">
            <a:solidFill>
              <a:schemeClr val="accent1"/>
            </a:solidFill>
            <a:prstDash val="solid"/>
            <a:tailEnd type="triangle"/>
          </a:ln>
        </p:spPr>
      </p:sp>
      <p:sp>
        <p:nvSpPr>
          <p:cNvPr id="24" name="Review card"/>
          <p:cNvSpPr/>
          <p:nvPr/>
        </p:nvSpPr>
        <p:spPr>
          <a:xfrm>
            <a:off x="7351776" y="1828800"/>
            <a:ext cx="2011680" cy="3017520"/>
          </a:xfrm>
          <a:prstGeom prst="roundRect">
            <a:avLst>
              <a:gd name="adj" fmla="val 5455"/>
            </a:avLst>
          </a:prstGeom>
          <a:solidFill>
            <a:schemeClr val="bg2"/>
          </a:solidFill>
          <a:ln/>
        </p:spPr>
      </p:sp>
      <p:sp>
        <p:nvSpPr>
          <p:cNvPr id="25" name="Review circle"/>
          <p:cNvSpPr/>
          <p:nvPr/>
        </p:nvSpPr>
        <p:spPr>
          <a:xfrm>
            <a:off x="7900416" y="2194560"/>
            <a:ext cx="914400" cy="914400"/>
          </a:xfrm>
          <a:prstGeom prst="ellipse">
            <a:avLst/>
          </a:prstGeom>
          <a:solidFill>
            <a:schemeClr val="accent1"/>
          </a:solidFill>
          <a:ln/>
        </p:spPr>
      </p:sp>
      <p:pic>
        <p:nvPicPr>
          <p:cNvPr id="26" name="Review icon" descr="preencoded.png">    </p:cNvPr>
          <p:cNvPicPr>
            <a:picLocks noChangeAspect="1"/>
          </p:cNvPicPr>
          <p:nvPr/>
        </p:nvPicPr>
        <p:blipFill>
          <a:blip r:embed="rId4"/>
          <a:stretch>
            <a:fillRect/>
          </a:stretch>
        </p:blipFill>
        <p:spPr>
          <a:xfrm>
            <a:off x="8129016" y="2423160"/>
            <a:ext cx="457200" cy="457200"/>
          </a:xfrm>
          <a:prstGeom prst="rect">
            <a:avLst/>
          </a:prstGeom>
        </p:spPr>
      </p:pic>
      <p:sp>
        <p:nvSpPr>
          <p:cNvPr id="27" name="Review number"/>
          <p:cNvSpPr txBox="1"/>
          <p:nvPr/>
        </p:nvSpPr>
        <p:spPr>
          <a:xfrm>
            <a:off x="7534656" y="1920240"/>
            <a:ext cx="365760" cy="365760"/>
          </a:xfrm>
          <a:prstGeom prst="rect">
            <a:avLst/>
          </a:prstGeom>
          <a:noFill/>
          <a:ln/>
        </p:spPr>
        <p:txBody>
          <a:bodyPr wrap="square" lIns="0" tIns="0" rIns="0" bIns="0" rtlCol="0" anchor="ctr"/>
          <a:lstStyle/>
          <a:p>
            <a:pPr indent="0" marL="0">
              <a:buNone/>
            </a:pPr>
            <a:r>
              <a:rPr lang="en-US" sz="1400" b="1" dirty="0">
                <a:solidFill>
                  <a:schemeClr val="accent1"/>
                </a:solidFill>
              </a:rPr>
              <a:t>4</a:t>
            </a:r>
            <a:endParaRPr lang="en-US" sz="1400" dirty="0"/>
          </a:p>
        </p:txBody>
      </p:sp>
      <p:sp>
        <p:nvSpPr>
          <p:cNvPr id="28" name="Review heading"/>
          <p:cNvSpPr txBox="1"/>
          <p:nvPr/>
        </p:nvSpPr>
        <p:spPr>
          <a:xfrm>
            <a:off x="7488936" y="3291840"/>
            <a:ext cx="1737360" cy="457200"/>
          </a:xfrm>
          <a:prstGeom prst="rect">
            <a:avLst/>
          </a:prstGeom>
          <a:noFill/>
          <a:ln/>
        </p:spPr>
        <p:txBody>
          <a:bodyPr wrap="square" lIns="0" tIns="0" rIns="0" bIns="0" rtlCol="0" anchor="ctr"/>
          <a:lstStyle/>
          <a:p>
            <a:pPr algn="ctr" indent="0" marL="0">
              <a:buNone/>
            </a:pPr>
            <a:r>
              <a:rPr lang="en-US" sz="2000" b="1" dirty="0">
                <a:solidFill>
                  <a:schemeClr val="tx1"/>
                </a:solidFill>
              </a:rPr>
              <a:t>Review</a:t>
            </a:r>
            <a:endParaRPr lang="en-US" sz="2000" dirty="0"/>
          </a:p>
        </p:txBody>
      </p:sp>
      <p:sp>
        <p:nvSpPr>
          <p:cNvPr id="29" name="Review text"/>
          <p:cNvSpPr txBox="1"/>
          <p:nvPr/>
        </p:nvSpPr>
        <p:spPr>
          <a:xfrm>
            <a:off x="7534656" y="3840480"/>
            <a:ext cx="1645920" cy="1188720"/>
          </a:xfrm>
          <a:prstGeom prst="rect">
            <a:avLst/>
          </a:prstGeom>
          <a:noFill/>
          <a:ln/>
        </p:spPr>
        <p:txBody>
          <a:bodyPr wrap="square" lIns="0" tIns="0" rIns="0" bIns="0" rtlCol="0" anchor="t"/>
          <a:lstStyle/>
          <a:p>
            <a:pPr algn="ctr" indent="0" marL="0">
              <a:buNone/>
            </a:pPr>
            <a:r>
              <a:rPr lang="en-US" sz="1500" dirty="0">
                <a:solidFill>
                  <a:schemeClr val="tx2"/>
                </a:solidFill>
              </a:rPr>
              <a:t>Admin moves it to Shortlisted</a:t>
            </a:r>
            <a:endParaRPr lang="en-US" sz="1500" dirty="0"/>
          </a:p>
        </p:txBody>
      </p:sp>
      <p:sp>
        <p:nvSpPr>
          <p:cNvPr id="30" name="step arrow 4"/>
          <p:cNvSpPr/>
          <p:nvPr/>
        </p:nvSpPr>
        <p:spPr>
          <a:xfrm>
            <a:off x="9390888" y="3566160"/>
            <a:ext cx="201168" cy="0"/>
          </a:xfrm>
          <a:prstGeom prst="line">
            <a:avLst/>
          </a:prstGeom>
          <a:noFill/>
          <a:ln w="25400">
            <a:solidFill>
              <a:schemeClr val="accent1"/>
            </a:solidFill>
            <a:prstDash val="solid"/>
            <a:tailEnd type="triangle"/>
          </a:ln>
        </p:spPr>
      </p:sp>
      <p:sp>
        <p:nvSpPr>
          <p:cNvPr id="31" name="Notify card"/>
          <p:cNvSpPr/>
          <p:nvPr/>
        </p:nvSpPr>
        <p:spPr>
          <a:xfrm>
            <a:off x="9619488" y="1828800"/>
            <a:ext cx="2011680" cy="3017520"/>
          </a:xfrm>
          <a:prstGeom prst="roundRect">
            <a:avLst>
              <a:gd name="adj" fmla="val 5455"/>
            </a:avLst>
          </a:prstGeom>
          <a:solidFill>
            <a:schemeClr val="bg2"/>
          </a:solidFill>
          <a:ln/>
        </p:spPr>
      </p:sp>
      <p:sp>
        <p:nvSpPr>
          <p:cNvPr id="32" name="Notify circle"/>
          <p:cNvSpPr/>
          <p:nvPr/>
        </p:nvSpPr>
        <p:spPr>
          <a:xfrm>
            <a:off x="10168128" y="2194560"/>
            <a:ext cx="914400" cy="914400"/>
          </a:xfrm>
          <a:prstGeom prst="ellipse">
            <a:avLst/>
          </a:prstGeom>
          <a:solidFill>
            <a:schemeClr val="accent1"/>
          </a:solidFill>
          <a:ln/>
        </p:spPr>
      </p:sp>
      <p:pic>
        <p:nvPicPr>
          <p:cNvPr id="33" name="Notify icon" descr="preencoded.png">    </p:cNvPr>
          <p:cNvPicPr>
            <a:picLocks noChangeAspect="1"/>
          </p:cNvPicPr>
          <p:nvPr/>
        </p:nvPicPr>
        <p:blipFill>
          <a:blip r:embed="rId5"/>
          <a:stretch>
            <a:fillRect/>
          </a:stretch>
        </p:blipFill>
        <p:spPr>
          <a:xfrm>
            <a:off x="10396728" y="2423160"/>
            <a:ext cx="457200" cy="457200"/>
          </a:xfrm>
          <a:prstGeom prst="rect">
            <a:avLst/>
          </a:prstGeom>
        </p:spPr>
      </p:pic>
      <p:sp>
        <p:nvSpPr>
          <p:cNvPr id="34" name="Notify number"/>
          <p:cNvSpPr txBox="1"/>
          <p:nvPr/>
        </p:nvSpPr>
        <p:spPr>
          <a:xfrm>
            <a:off x="9802368" y="1920240"/>
            <a:ext cx="365760" cy="365760"/>
          </a:xfrm>
          <a:prstGeom prst="rect">
            <a:avLst/>
          </a:prstGeom>
          <a:noFill/>
          <a:ln/>
        </p:spPr>
        <p:txBody>
          <a:bodyPr wrap="square" lIns="0" tIns="0" rIns="0" bIns="0" rtlCol="0" anchor="ctr"/>
          <a:lstStyle/>
          <a:p>
            <a:pPr indent="0" marL="0">
              <a:buNone/>
            </a:pPr>
            <a:r>
              <a:rPr lang="en-US" sz="1400" b="1" dirty="0">
                <a:solidFill>
                  <a:schemeClr val="accent1"/>
                </a:solidFill>
              </a:rPr>
              <a:t>5</a:t>
            </a:r>
            <a:endParaRPr lang="en-US" sz="1400" dirty="0"/>
          </a:p>
        </p:txBody>
      </p:sp>
      <p:sp>
        <p:nvSpPr>
          <p:cNvPr id="35" name="Notify heading"/>
          <p:cNvSpPr txBox="1"/>
          <p:nvPr/>
        </p:nvSpPr>
        <p:spPr>
          <a:xfrm>
            <a:off x="9756648" y="3291840"/>
            <a:ext cx="1737360" cy="457200"/>
          </a:xfrm>
          <a:prstGeom prst="rect">
            <a:avLst/>
          </a:prstGeom>
          <a:noFill/>
          <a:ln/>
        </p:spPr>
        <p:txBody>
          <a:bodyPr wrap="square" lIns="0" tIns="0" rIns="0" bIns="0" rtlCol="0" anchor="ctr"/>
          <a:lstStyle/>
          <a:p>
            <a:pPr algn="ctr" indent="0" marL="0">
              <a:buNone/>
            </a:pPr>
            <a:r>
              <a:rPr lang="en-US" sz="2000" b="1" dirty="0">
                <a:solidFill>
                  <a:schemeClr val="tx1"/>
                </a:solidFill>
              </a:rPr>
              <a:t>Notify</a:t>
            </a:r>
            <a:endParaRPr lang="en-US" sz="2000" dirty="0"/>
          </a:p>
        </p:txBody>
      </p:sp>
      <p:sp>
        <p:nvSpPr>
          <p:cNvPr id="36" name="Notify text"/>
          <p:cNvSpPr txBox="1"/>
          <p:nvPr/>
        </p:nvSpPr>
        <p:spPr>
          <a:xfrm>
            <a:off x="9802368" y="3840480"/>
            <a:ext cx="1645920" cy="1188720"/>
          </a:xfrm>
          <a:prstGeom prst="rect">
            <a:avLst/>
          </a:prstGeom>
          <a:noFill/>
          <a:ln/>
        </p:spPr>
        <p:txBody>
          <a:bodyPr wrap="square" lIns="0" tIns="0" rIns="0" bIns="0" rtlCol="0" anchor="t"/>
          <a:lstStyle/>
          <a:p>
            <a:pPr algn="ctr" indent="0" marL="0">
              <a:buNone/>
            </a:pPr>
            <a:r>
              <a:rPr lang="en-US" sz="1500" dirty="0">
                <a:solidFill>
                  <a:schemeClr val="tx2"/>
                </a:solidFill>
              </a:rPr>
              <a:t>Candidate sees the status change</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280160"/>
          </a:xfrm>
          <a:prstGeom prst="rect">
            <a:avLst/>
          </a:prstGeom>
          <a:noFill/>
          <a:ln/>
        </p:spPr>
        <p:txBody>
          <a:bodyPr wrap="square" lIns="0" tIns="0" rIns="0" bIns="0" rtlCol="0" anchor="b"/>
          <a:lstStyle/>
          <a:p>
            <a:pPr algn="l" indent="0" marL="0">
              <a:buNone/>
            </a:pPr>
            <a:r>
              <a:rPr lang="en-US" sz="6000" b="1" dirty="0">
                <a:solidFill>
                  <a:schemeClr val="bg1"/>
                </a:solidFill>
              </a:rPr>
              <a:t>What's next</a:t>
            </a:r>
            <a:endParaRPr lang="en-US" sz="6000" dirty="0"/>
          </a:p>
        </p:txBody>
      </p:sp>
      <p:sp>
        <p:nvSpPr>
          <p:cNvPr id="3" name="Text 0"/>
          <p:cNvSpPr/>
          <p:nvPr>
            <p:ph idx="101" type="body" hasCustomPrompt="1"/>
          </p:nvPr>
        </p:nvSpPr>
        <p:spPr>
          <a:xfrm>
            <a:off x="731520" y="3566160"/>
            <a:ext cx="10698480" cy="1828800"/>
          </a:xfrm>
          <a:prstGeom prst="rect">
            <a:avLst/>
          </a:prstGeom>
          <a:noFill/>
          <a:ln/>
        </p:spPr>
        <p:txBody>
          <a:bodyPr wrap="square" lIns="0" tIns="0" rIns="0" bIns="0" rtlCol="0" anchor="t"/>
          <a:lstStyle/>
          <a:p>
            <a:pPr algn="l" marL="342900" indent="-342900">
              <a:spcAft>
                <a:spcPts val="1000"/>
              </a:spcAft>
              <a:buSzPct val="100000"/>
              <a:buChar char="•"/>
            </a:pPr>
            <a:r>
              <a:rPr lang="en-US" sz="2400" dirty="0">
                <a:solidFill>
                  <a:schemeClr val="bg2"/>
                </a:solidFill>
              </a:rPr>
              <a:t>Server-side search and pagination</a:t>
            </a:r>
            <a:endParaRPr lang="en-US" sz="2400" dirty="0"/>
          </a:p>
          <a:p>
            <a:pPr algn="l" marL="342900" indent="-342900">
              <a:spcAft>
                <a:spcPts val="1000"/>
              </a:spcAft>
              <a:buSzPct val="100000"/>
              <a:buChar char="•"/>
            </a:pPr>
            <a:r>
              <a:rPr lang="en-US" sz="2400" dirty="0">
                <a:solidFill>
                  <a:schemeClr val="bg2"/>
                </a:solidFill>
              </a:rPr>
              <a:t>Profile photos and automated tests</a:t>
            </a:r>
            <a:endParaRPr lang="en-US" sz="2400" dirty="0"/>
          </a:p>
          <a:p>
            <a:pPr algn="l" marL="342900" indent="-342900">
              <a:spcAft>
                <a:spcPts val="1000"/>
              </a:spcAft>
              <a:buSzPct val="100000"/>
              <a:buChar char="•"/>
            </a:pPr>
            <a:r>
              <a:rPr lang="en-US" sz="2400" dirty="0">
                <a:solidFill>
                  <a:schemeClr val="bg2"/>
                </a:solidFill>
              </a:rPr>
              <a:t>Recruiter accounts limited to their own clients</a:t>
            </a:r>
            <a:endParaRPr lang="en-US" sz="2400" dirty="0"/>
          </a:p>
        </p:txBody>
      </p:sp>
      <p:sp>
        <p:nvSpPr>
          <p:cNvPr id="4" name="thanks"/>
          <p:cNvSpPr txBox="1"/>
          <p:nvPr/>
        </p:nvSpPr>
        <p:spPr>
          <a:xfrm>
            <a:off x="731520" y="5669280"/>
            <a:ext cx="10698480" cy="548640"/>
          </a:xfrm>
          <a:prstGeom prst="rect">
            <a:avLst/>
          </a:prstGeom>
          <a:noFill/>
          <a:ln/>
        </p:spPr>
        <p:txBody>
          <a:bodyPr wrap="square" lIns="0" tIns="0" rIns="0" bIns="0" rtlCol="0" anchor="ctr"/>
          <a:lstStyle/>
          <a:p>
            <a:pPr indent="0" marL="0">
              <a:buNone/>
            </a:pPr>
            <a:r>
              <a:rPr lang="en-US" sz="2000" b="1" dirty="0">
                <a:solidFill>
                  <a:schemeClr val="accent1"/>
                </a:solidFill>
              </a:rPr>
              <a:t>Thank you. Questions?</a:t>
            </a:r>
            <a:endParaRPr lang="en-US" sz="2000" dirty="0"/>
          </a:p>
        </p:txBody>
      </p:sp>
    </p:spTree>
  </p:cSld>
  <p:clrMapOvr>
    <a:masterClrMapping/>
  </p:clrMapOvr>
</p:sld>
</file>

<file path=ppt/theme/theme1.xml><?xml version="1.0" encoding="utf-8"?>
<a:theme xmlns:a="http://schemas.openxmlformats.org/drawingml/2006/main" name="WorkNest">
  <a:themeElements>
    <a:clrScheme name="WorkNest">
      <a:dk1>
        <a:srgbClr val="161320"/>
      </a:dk1>
      <a:lt1>
        <a:srgbClr val="FFFFFF"/>
      </a:lt1>
      <a:dk2>
        <a:srgbClr val="4B4757"/>
      </a:dk2>
      <a:lt2>
        <a:srgbClr val="F1EDFF"/>
      </a:lt2>
      <a:accent1>
        <a:srgbClr val="6D4AFF"/>
      </a:accent1>
      <a:accent2>
        <a:srgbClr val="1E9E5A"/>
      </a:accent2>
      <a:accent3>
        <a:srgbClr val="C2760C"/>
      </a:accent3>
      <a:accent4>
        <a:srgbClr val="2D5BFF"/>
      </a:accent4>
      <a:accent5>
        <a:srgbClr val="D9651B"/>
      </a:accent5>
      <a:accent6>
        <a:srgbClr val="8B8798"/>
      </a:accent6>
      <a:hlink>
        <a:srgbClr val="6D4AFF"/>
      </a:hlink>
      <a:folHlink>
        <a:srgbClr val="5D3CE0"/>
      </a:folHlink>
    </a:clrScheme>
    <a:fontScheme name="WorkNes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WorkNest</dc:title>
  <dc:subject>PptxGenJS Presentation</dc:subject>
  <dc:creator>WorkNest team</dc:creator>
  <cp:lastModifiedBy>WorkNest team</cp:lastModifiedBy>
  <cp:revision>1</cp:revision>
  <dcterms:created xsi:type="dcterms:W3CDTF">2026-10-12T14:22:47Z</dcterms:created>
  <dcterms:modified xsi:type="dcterms:W3CDTF">2026-10-12T14:22:47Z</dcterms:modified>
</cp:coreProperties>
</file>